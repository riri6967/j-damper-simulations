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245462c-3eca-f822-2f80-0d622053986c}">
          <p14:sldIdLst>
            <p14:sldId id="256"/>
            <p14:sldId id="257"/>
            <p14:sldId id="258"/>
            <p14:sldId id="259"/>
            <p14:sldId id="260"/>
          </p14:sldIdLst>
        </p14:section>
        <p14:section name="Method" id="{047da899-b74f-a80f-87a3-6bd5c900b72a}">
          <p14:sldIdLst>
            <p14:sldId id="261"/>
            <p14:sldId id="262"/>
            <p14:sldId id="263"/>
          </p14:sldIdLst>
        </p14:section>
        <p14:section name="CFD results" id="{d6c4e166-21fa-8ad7-7bcd-facb9391e0c3}">
          <p14:sldIdLst>
            <p14:sldId id="264"/>
            <p14:sldId id="265"/>
            <p14:sldId id="266"/>
            <p14:sldId id="267"/>
            <p14:sldId id="268"/>
          </p14:sldIdLst>
        </p14:section>
        <p14:section name="Vehicle results" id="{b7157819-5af8-7f0e-5484-8960492e744d}">
          <p14:sldIdLst>
            <p14:sldId id="269"/>
            <p14:sldId id="270"/>
            <p14:sldId id="271"/>
            <p14:sldId id="272"/>
          </p14:sldIdLst>
        </p14:section>
        <p14:section name="Conclusions" id="{25c6b5bc-4b60-204f-2f7f-975006af188f}">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Reduction in dynamic tyre load, J-damper layout</a:t>
            </a:r>
          </a:p>
        </c:rich>
      </c:tx>
      <c:layout/>
      <c:overlay val="0"/>
    </c:title>
    <c:autoTitleDeleted val="0"/>
    <c:plotArea>
      <c:layout/>
      <c:barChart>
        <c:barDir val="bar"/>
        <c:grouping val="clustered"/>
        <c:varyColors val="0"/>
        <c:ser>
          <c:idx val="0"/>
          <c:order val="0"/>
          <c:tx>
            <c:strRef>
              <c:f>Sheet1!$B$1</c:f>
              <c:strCache>
                <c:ptCount val="1"/>
                <c:pt idx="0">
                  <c:v>Reduction in dynamic tyre load (%)</c:v>
                </c:pt>
              </c:strCache>
            </c:strRef>
          </c:tx>
          <c:spPr>
            <a:solidFill>
              <a:srgbClr val="2F6690"/>
            </a:solidFill>
            <a:effectLst/>
          </c:spPr>
          <c:invertIfNegative val="0"/>
          <c:dLbls>
            <c:numFmt formatCode="0.0&quot;%&quot;"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2F6690"/>
              </a:solidFill>
              <a:effectLst/>
            </c:spPr>
          </c:dPt>
          <c:dPt>
            <c:idx val="1"/>
            <c:invertIfNegative val="0"/>
            <c:bubble3D val="0"/>
            <c:spPr>
              <a:solidFill>
                <a:srgbClr val="9AA4AE"/>
              </a:solidFill>
              <a:effectLst/>
            </c:spPr>
          </c:dPt>
          <c:dPt>
            <c:idx val="2"/>
            <c:invertIfNegative val="0"/>
            <c:bubble3D val="0"/>
            <c:spPr>
              <a:solidFill>
                <a:srgbClr val="9AA4AE"/>
              </a:solidFill>
              <a:effectLst/>
            </c:spPr>
          </c:dPt>
          <c:dPt>
            <c:idx val="3"/>
            <c:invertIfNegative val="0"/>
            <c:bubble3D val="0"/>
            <c:spPr>
              <a:solidFill>
                <a:srgbClr val="C2581B"/>
              </a:solidFill>
              <a:effectLst/>
            </c:spPr>
          </c:dPt>
          <c:dPt>
            <c:idx val="4"/>
            <c:invertIfNegative val="0"/>
            <c:bubble3D val="0"/>
            <c:spPr>
              <a:solidFill>
                <a:srgbClr val="C2581B"/>
              </a:solidFill>
              <a:effectLst/>
            </c:spPr>
          </c:dPt>
          <c:dPt>
            <c:idx val="5"/>
            <c:invertIfNegative val="0"/>
            <c:bubble3D val="0"/>
            <c:spPr>
              <a:solidFill>
                <a:srgbClr val="C2581B"/>
              </a:solidFill>
              <a:effectLst/>
            </c:spPr>
          </c:dPt>
          <c:cat>
            <c:multiLvlStrRef>
              <c:f>Sheet1!$A$2:$A$7</c:f>
              <c:multiLvlStrCache>
                <c:ptCount val="6"/>
                <c:lvl>
                  <c:pt idx="0">
                    <c:v>Ideal inerter</c:v>
                  </c:pt>
                  <c:pt idx="1">
                    <c:v>Quasi-steady correlation</c:v>
                  </c:pt>
                  <c:pt idx="2">
                    <c:v>Womersley (straight pipe)</c:v>
                  </c:pt>
                  <c:pt idx="3">
                    <c:v>CFD channel, 2 mm stroke</c:v>
                  </c:pt>
                  <c:pt idx="4">
                    <c:v>CFD channel, 5 mm stroke</c:v>
                  </c:pt>
                  <c:pt idx="5">
                    <c:v>CFD + piston chambers, 2 mm</c:v>
                  </c:pt>
                </c:lvl>
              </c:multiLvlStrCache>
            </c:multiLvlStrRef>
          </c:cat>
          <c:val>
            <c:numRef>
              <c:f>Sheet1!$B$2:$B$7</c:f>
              <c:numCache>
                <c:formatCode>General</c:formatCode>
                <c:ptCount val="6"/>
                <c:pt idx="0">
                  <c:v>8.69</c:v>
                </c:pt>
                <c:pt idx="1">
                  <c:v>4.44</c:v>
                </c:pt>
                <c:pt idx="2">
                  <c:v>5.36</c:v>
                </c:pt>
                <c:pt idx="3">
                  <c:v>5.03</c:v>
                </c:pt>
                <c:pt idx="4">
                  <c:v>4.51</c:v>
                </c:pt>
                <c:pt idx="5">
                  <c:v>5.01</c:v>
                </c:pt>
              </c:numCache>
            </c:numRef>
          </c:val>
        </c:ser>
        <c:dLbls>
          <c:numFmt formatCode="0.0&quot;%&quot;"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GR Supra (road)</a:t>
            </a:r>
          </a:p>
        </c:rich>
      </c:tx>
      <c:layout/>
      <c:overlay val="0"/>
    </c:title>
    <c:autoTitleDeleted val="0"/>
    <c:plotArea>
      <c:layout/>
      <c:barChart>
        <c:barDir val="col"/>
        <c:grouping val="clustered"/>
        <c:varyColors val="0"/>
        <c:ser>
          <c:idx val="0"/>
          <c:order val="0"/>
          <c:tx>
            <c:strRef>
              <c:f>Sheet1!$B$1</c:f>
              <c:strCache>
                <c:ptCount val="1"/>
                <c:pt idx="0">
                  <c:v>Ideal J-damper</c:v>
                </c:pt>
              </c:strCache>
            </c:strRef>
          </c:tx>
          <c:spPr>
            <a:solidFill>
              <a:srgbClr val="2F6690"/>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Test road</c:v>
                  </c:pt>
                  <c:pt idx="1">
                    <c:v>Monza</c:v>
                  </c:pt>
                  <c:pt idx="2">
                    <c:v>Spa</c:v>
                  </c:pt>
                  <c:pt idx="3">
                    <c:v>Daytona</c:v>
                  </c:pt>
                </c:lvl>
              </c:multiLvlStrCache>
            </c:multiLvlStrRef>
          </c:cat>
          <c:val>
            <c:numRef>
              <c:f>Sheet1!$B$2:$B$5</c:f>
              <c:numCache>
                <c:formatCode>General</c:formatCode>
                <c:ptCount val="4"/>
                <c:pt idx="0">
                  <c:v>6.23</c:v>
                </c:pt>
                <c:pt idx="1">
                  <c:v>1.44</c:v>
                </c:pt>
                <c:pt idx="2">
                  <c:v>-1.06</c:v>
                </c:pt>
                <c:pt idx="3">
                  <c:v>7.3</c:v>
                </c:pt>
              </c:numCache>
            </c:numRef>
          </c:val>
        </c:ser>
        <c:ser>
          <c:idx val="1"/>
          <c:order val="1"/>
          <c:tx>
            <c:strRef>
              <c:f>Sheet1!$C$1</c:f>
              <c:strCache>
                <c:ptCount val="1"/>
                <c:pt idx="0">
                  <c:v>CFD J-damper</c:v>
                </c:pt>
              </c:strCache>
            </c:strRef>
          </c:tx>
          <c:spPr>
            <a:solidFill>
              <a:srgbClr val="C2581B"/>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Test road</c:v>
                  </c:pt>
                  <c:pt idx="1">
                    <c:v>Monza</c:v>
                  </c:pt>
                  <c:pt idx="2">
                    <c:v>Spa</c:v>
                  </c:pt>
                  <c:pt idx="3">
                    <c:v>Daytona</c:v>
                  </c:pt>
                </c:lvl>
              </c:multiLvlStrCache>
            </c:multiLvlStrRef>
          </c:cat>
          <c:val>
            <c:numRef>
              <c:f>Sheet1!$C$2:$C$5</c:f>
              <c:numCache>
                <c:formatCode>General</c:formatCode>
                <c:ptCount val="4"/>
                <c:pt idx="0">
                  <c:v>6.98</c:v>
                </c:pt>
                <c:pt idx="1">
                  <c:v>4.84</c:v>
                </c:pt>
                <c:pt idx="2">
                  <c:v>4.21</c:v>
                </c:pt>
                <c:pt idx="3">
                  <c:v>4.97</c:v>
                </c:pt>
              </c:numCache>
            </c:numRef>
          </c:val>
        </c:ser>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
          <c:min val="-4"/>
        </c:scaling>
        <c:delete val="0"/>
        <c:axPos val="l"/>
        <c:majorGridlines>
          <c:spPr>
            <a:ln w="6350" cap="flat">
              <a:solidFill>
                <a:srgbClr val="DDE1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68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GR Supra GT4 (race)</a:t>
            </a:r>
          </a:p>
        </c:rich>
      </c:tx>
      <c:layout/>
      <c:overlay val="0"/>
    </c:title>
    <c:autoTitleDeleted val="0"/>
    <c:plotArea>
      <c:layout/>
      <c:barChart>
        <c:barDir val="col"/>
        <c:grouping val="clustered"/>
        <c:varyColors val="0"/>
        <c:ser>
          <c:idx val="0"/>
          <c:order val="0"/>
          <c:tx>
            <c:strRef>
              <c:f>Sheet1!$B$1</c:f>
              <c:strCache>
                <c:ptCount val="1"/>
                <c:pt idx="0">
                  <c:v>Ideal J-damper</c:v>
                </c:pt>
              </c:strCache>
            </c:strRef>
          </c:tx>
          <c:spPr>
            <a:solidFill>
              <a:srgbClr val="2F6690"/>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Test road</c:v>
                  </c:pt>
                  <c:pt idx="1">
                    <c:v>Monza</c:v>
                  </c:pt>
                  <c:pt idx="2">
                    <c:v>Spa</c:v>
                  </c:pt>
                  <c:pt idx="3">
                    <c:v>Daytona</c:v>
                  </c:pt>
                </c:lvl>
              </c:multiLvlStrCache>
            </c:multiLvlStrRef>
          </c:cat>
          <c:val>
            <c:numRef>
              <c:f>Sheet1!$B$2:$B$5</c:f>
              <c:numCache>
                <c:formatCode>General</c:formatCode>
                <c:ptCount val="4"/>
                <c:pt idx="0">
                  <c:v>6.05</c:v>
                </c:pt>
                <c:pt idx="1">
                  <c:v>4.93</c:v>
                </c:pt>
                <c:pt idx="2">
                  <c:v>6.09</c:v>
                </c:pt>
                <c:pt idx="3">
                  <c:v>-1.91</c:v>
                </c:pt>
              </c:numCache>
            </c:numRef>
          </c:val>
        </c:ser>
        <c:ser>
          <c:idx val="1"/>
          <c:order val="1"/>
          <c:tx>
            <c:strRef>
              <c:f>Sheet1!$C$1</c:f>
              <c:strCache>
                <c:ptCount val="1"/>
                <c:pt idx="0">
                  <c:v>CFD J-damper</c:v>
                </c:pt>
              </c:strCache>
            </c:strRef>
          </c:tx>
          <c:spPr>
            <a:solidFill>
              <a:srgbClr val="C2581B"/>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Test road</c:v>
                  </c:pt>
                  <c:pt idx="1">
                    <c:v>Monza</c:v>
                  </c:pt>
                  <c:pt idx="2">
                    <c:v>Spa</c:v>
                  </c:pt>
                  <c:pt idx="3">
                    <c:v>Daytona</c:v>
                  </c:pt>
                </c:lvl>
              </c:multiLvlStrCache>
            </c:multiLvlStrRef>
          </c:cat>
          <c:val>
            <c:numRef>
              <c:f>Sheet1!$C$2:$C$5</c:f>
              <c:numCache>
                <c:formatCode>General</c:formatCode>
                <c:ptCount val="4"/>
                <c:pt idx="0">
                  <c:v>-0.74</c:v>
                </c:pt>
                <c:pt idx="1">
                  <c:v>1.92</c:v>
                </c:pt>
                <c:pt idx="2">
                  <c:v>1.76</c:v>
                </c:pt>
                <c:pt idx="3">
                  <c:v>2.76</c:v>
                </c:pt>
              </c:numCache>
            </c:numRef>
          </c:val>
        </c:ser>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
          <c:min val="-4"/>
        </c:scaling>
        <c:delete val="0"/>
        <c:axPos val="l"/>
        <c:majorGridlines>
          <c:spPr>
            <a:ln w="6350" cap="flat">
              <a:solidFill>
                <a:srgbClr val="DDE1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68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Ford F-150</a:t>
            </a:r>
          </a:p>
        </c:rich>
      </c:tx>
      <c:layout/>
      <c:overlay val="0"/>
    </c:title>
    <c:autoTitleDeleted val="0"/>
    <c:plotArea>
      <c:layout/>
      <c:barChart>
        <c:barDir val="col"/>
        <c:grouping val="clustered"/>
        <c:varyColors val="0"/>
        <c:ser>
          <c:idx val="0"/>
          <c:order val="0"/>
          <c:tx>
            <c:strRef>
              <c:f>Sheet1!$B$1</c:f>
              <c:strCache>
                <c:ptCount val="1"/>
                <c:pt idx="0">
                  <c:v>Ideal J-damper</c:v>
                </c:pt>
              </c:strCache>
            </c:strRef>
          </c:tx>
          <c:spPr>
            <a:solidFill>
              <a:srgbClr val="2F6690"/>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Test road</c:v>
                  </c:pt>
                  <c:pt idx="1">
                    <c:v>Monza</c:v>
                  </c:pt>
                  <c:pt idx="2">
                    <c:v>Spa</c:v>
                  </c:pt>
                  <c:pt idx="3">
                    <c:v>Daytona</c:v>
                  </c:pt>
                </c:lvl>
              </c:multiLvlStrCache>
            </c:multiLvlStrRef>
          </c:cat>
          <c:val>
            <c:numRef>
              <c:f>Sheet1!$B$2:$B$5</c:f>
              <c:numCache>
                <c:formatCode>General</c:formatCode>
                <c:ptCount val="4"/>
                <c:pt idx="0">
                  <c:v>6.13</c:v>
                </c:pt>
                <c:pt idx="1">
                  <c:v>6.46</c:v>
                </c:pt>
                <c:pt idx="2">
                  <c:v>4</c:v>
                </c:pt>
                <c:pt idx="3">
                  <c:v>9.15</c:v>
                </c:pt>
              </c:numCache>
            </c:numRef>
          </c:val>
        </c:ser>
        <c:ser>
          <c:idx val="1"/>
          <c:order val="1"/>
          <c:tx>
            <c:strRef>
              <c:f>Sheet1!$C$1</c:f>
              <c:strCache>
                <c:ptCount val="1"/>
                <c:pt idx="0">
                  <c:v>CFD J-damper</c:v>
                </c:pt>
              </c:strCache>
            </c:strRef>
          </c:tx>
          <c:spPr>
            <a:solidFill>
              <a:srgbClr val="C2581B"/>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Test road</c:v>
                  </c:pt>
                  <c:pt idx="1">
                    <c:v>Monza</c:v>
                  </c:pt>
                  <c:pt idx="2">
                    <c:v>Spa</c:v>
                  </c:pt>
                  <c:pt idx="3">
                    <c:v>Daytona</c:v>
                  </c:pt>
                </c:lvl>
              </c:multiLvlStrCache>
            </c:multiLvlStrRef>
          </c:cat>
          <c:val>
            <c:numRef>
              <c:f>Sheet1!$C$2:$C$5</c:f>
              <c:numCache>
                <c:formatCode>General</c:formatCode>
                <c:ptCount val="4"/>
                <c:pt idx="0">
                  <c:v>6.78</c:v>
                </c:pt>
                <c:pt idx="1">
                  <c:v>6.93</c:v>
                </c:pt>
                <c:pt idx="2">
                  <c:v>7.17</c:v>
                </c:pt>
                <c:pt idx="3">
                  <c:v>5.51</c:v>
                </c:pt>
              </c:numCache>
            </c:numRef>
          </c:val>
        </c:ser>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
          <c:min val="-4"/>
        </c:scaling>
        <c:delete val="0"/>
        <c:axPos val="l"/>
        <c:majorGridlines>
          <c:spPr>
            <a:ln w="6350" cap="flat">
              <a:solidFill>
                <a:srgbClr val="DDE1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68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Rishi Gerolaga Kumar (URK24RA3001) and C Y Nicholas (URK24RA3012). Our project for Pneumatics and Dynamics (23ME2002) is a CFD characterisation of a helical-channel fluid inerter, the device McLaren raced in Formula 1 as the 'J-damper'. The question we answer is how much of the ideal inerter's grip benefit survives once real fluid behaviour is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five parts: background, method, CFD results, vehicle results and conclusions. Everything is driven by one research question: how far does a real fluid inerter depart from the ideal model, and how much of the grip benefit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inerter is a two-terminal suspension element whose force is proportional to the relative acceleration between its ends, F = b times (a1 minus a2). b is called the inertance and has units of kilograms. McLaren raced it in F1 from 2005 to 2007 as the J-damper. A fluid inerter pushes oil through a long, narrow helical channel. In our baseline device, only 46 grams of oil behave like 91.7 kilograms, because the oil moves much faster than the piston.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CFD result animated (it plays in slideshow mode). On the left the piston moves plus/minus 5.6 mm at 10 Hz. In the middle is the channel cross-section: colour is oil speed and the arrows are the Dean vortices. On the right is the force loop: an ideal inerter would be the dotted straight line; the real oil gives an ellipse, and its area is the energy lost every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ideal formula ignores four real effects. One: viscous and curvature losses; the Dean vortices raise the pressure drop and add parasitic damping. Two: unsteady flow; above a Womersley number of about 1 the velocity profile, and therefore b and c, depend on frequency. Three: entry and exit losses at the ports. Four: cavitation, when the chamber pressure drops below the vapour pressure. So our question is: how far does the real device depart from the ideal, and how much grip benefit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uses CFD as a virtual test rig, because we have no hardware. Step 1: we wrote our own structured hex mesh generator. Step 2: we validated steady flow in the full helix against published correlations and did a mesh-independence study. Step 3: oscillating flow on a periodic torus sector from 1 to 20 Hz. Step 4: we fitted frequency-dependent inertance and damping and a reduced-order model. Step 5: we put that model into a quarter car and then a full car on real tracks. All tools are free and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CFD models. The full helix (five turns, 6 mm channel) with three structured meshes from 0.16 to 0.90 million cells, used for steady validation. For the oscillating flow we used a 10-degree torus sector with cyclic faces, only 2,560 cells. Fully developed flow repeats every turn, so this costs about one hundredth of the full helix. We checked that the helix pitch changes friction by less than 0.1 %.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vehicle we compared four quarter-car layouts: L1 conventional, L2 parallel inerter (which gives no grip benefit), L3 damper and inerter in series, and L4, the J-damper branch, which is the best. Each was optimised to minimise dynamic tyre load on an ISO 8608 class A road at 180 km/h, using an ideal inerter and then each fluid-inerter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The black dots are our OpenFOAM friction factors; the lines are the Ito and White correlations. We agree within 0.3 to 3.6 % from Re 100 to 4000. The grid convergence index study with three meshes gives 0.1 to 0.3 % uncertainty up to Dean number 300. At De about 1265 only the fine mesh converges, so very high Dean numbers need more wall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inside the channel at three Dean numbers. Colour is axial speed and the streamlines are the secondary flow. Curvature creates two counter-rotating Dean vortices that push the fastest oil to the outer wall. That costs extra friction, but it also flattens the velocity profile, which brings the inertance closer to the ideal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CFD result. Left: the effective inertance is 1.02 to 1.26 times the ideal formula. It falls with frequency and Dean number, because the vortices flatten the profile; a straight laminar pipe would give 1.22 to 1.33. Right: the parasitic damping is 1.1 to 3.2 times the straight-pipe value, rising with frequency and stroke. A quasi-steady correlation predicts the damping within about 4 %, but the frequency-dependent inertance is only captured by the CFD.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coil CFD drives only the channel, so we simulated the piston, its chambers and the ports separately. The exit loss is about 1.9, not the textbook 1.0: laminar oil leaves with a peaked profile carrying twice the kinetic energy, and the chamber destroys it all. A 3D model of the drilled port as built, a radial hole with two sharp elbows, gives K_in about 2.6 and K_out about 3.8, a total of 6.4 velocity heads. The oscillating-piston CFD shows the chambers add 7.4 % damping. Quarter-car grip stays at 5.0 %. Lesson: radius the drillings.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Cavitation, using two-phase CFD (interPhaseChangeFoam with the Schnerr–Sauer model) at 20 Hz and plus/minus 2.4 mm. At 0.5, 1.0 and 1.5 MPa pre-charge vapour forms, up to 28 % of the chamber volume, in the ring vortex next to the port and at the piston corner. At 2.0 and 3.0 MPa there is none. The CFD onset of about 1.75 MPa matches our hand calculation of 1.73 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Quarter-car results with the J-damper layout. An ideal inerter reduces the dynamic tyre load by 8.7 %. With our CFD inerter at 2 mm stroke it is 5.0 %, and 4.5 % at 5 mm. Including the piston chambers and ports it stays at 5.0 %. So real fluid behaviour removes about 40 to 50 % of the ideal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built a full-car track simulator: Toyota GR Supra road car and GT4 race car, and a Ford F-150, on Monza, Spa, Daytona and a straight rough test road. It models weight transfer, pitch, roll, kerbs and bump stops. The animation is the GT4 through Eau Rouge at Spa. Simulated GT4 lap times are 1:54.6 at Monza and 2:34.9 at Spa, close to real GT4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Full-lap results with the J-damper replacing the main damper. On the soft Supra road car and the F-150 the CFD J-damper is 4 to 7 % better than conventional on circuits, often better than the ideal inerter, because its built-in fluid damping helps body control. On the stiff GT4 race car the fluid losses cancel most of the benefit: 0 to 2 %, where an ideal inerter would give 5 to 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results differ. The inerter helps with bumps and wheel hop above about 3 Hz. But if you remove the main damper, an ideal inerter gives almost no damping at body frequencies, so the body wallows after braking and cornering. The real inerter's fluid friction damps that motion, which is why it beats the ideal one on soft cars. Kerb strikes and wheel lifts are unaffected by all three. Design implication: parasitic damping per kg of inertance depends only on the channel diameter, so packaging versus fluid losses is the core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One: our CFD is validated against correlations and a mesh study. Two: a real fluid inerter's inertance is close to ideal, but it adds significant parasitic damping. Three: on a single wheel that costs about 40 % of the grip benefit. Four: the drilled ports lose about 6.4 velocity heads and the device needs at least 1.75 MPa pre-charge. Five: on real cars it is a trade-off between bump grip and body control; the real inerter helps soft cars, while for a stiff race car the fluid losses must be minimised.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laminar isothermal oil; the chamber and cavitation CFD are axisymmetric and the 3D port CFD is steady; the track simulator uses vertical tyre load only, and some vehicle parameters are estimates. Next steps: compare with published fluid-inerter experiments, simulate radiused ports, refine the high-Dean regime, and add a tyre model and a physical test rig.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references for the inerter theory, curved-pipe flow, oscillating pipe flow, the mesh-uncertainty method and the cavitation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Likely ones: why a torus sector (fully developed flow repeats every turn; &lt; 0.1 % difference), how we know the CFD is right (correlations, GCI, Womersley limit), and why the exit loss is 1.9 not 1.0 (laminar profile carries twice the kinetic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675120" cy="22860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Pneumatics and Dynamics (23ME2002)  ·  Karunya Institute of Technology and Sciences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Pneumatics and Dynamics (23ME2002)  ·  Karunya Institute of Technology and Sciences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2F4F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mage panel"/>
          <p:cNvSpPr/>
          <p:nvPr/>
        </p:nvSpPr>
        <p:spPr>
          <a:xfrm>
            <a:off x="7680960" y="0"/>
            <a:ext cx="4510735" cy="6858000"/>
          </a:xfrm>
          <a:prstGeom prst="rect">
            <a:avLst/>
          </a:prstGeom>
          <a:solidFill>
            <a:schemeClr val="bg1"/>
          </a:solidFill>
          <a:ln/>
        </p:spPr>
      </p:sp>
      <p:pic>
        <p:nvPicPr>
          <p:cNvPr id="3" name="Image 0" descr="Helical oil channel of the fluid inerter">    </p:cNvPr>
          <p:cNvPicPr>
            <a:picLocks noChangeAspect="1"/>
          </p:cNvPicPr>
          <p:nvPr/>
        </p:nvPicPr>
        <p:blipFill>
          <a:blip r:embed="rId1"/>
          <a:stretch>
            <a:fillRect/>
          </a:stretch>
        </p:blipFill>
        <p:spPr>
          <a:xfrm>
            <a:off x="7955280" y="1952028"/>
            <a:ext cx="3959352" cy="2953944"/>
          </a:xfrm>
          <a:prstGeom prst="rect">
            <a:avLst/>
          </a:prstGeom>
        </p:spPr>
      </p:pic>
      <p:sp>
        <p:nvSpPr>
          <p:cNvPr id="4" name="Text 1"/>
          <p:cNvSpPr txBox="1"/>
          <p:nvPr/>
        </p:nvSpPr>
        <p:spPr>
          <a:xfrm>
            <a:off x="548640" y="822960"/>
            <a:ext cx="6675120" cy="365760"/>
          </a:xfrm>
          <a:prstGeom prst="rect">
            <a:avLst/>
          </a:prstGeom>
          <a:noFill/>
          <a:ln/>
        </p:spPr>
        <p:txBody>
          <a:bodyPr wrap="square" lIns="0" tIns="0" rIns="0" bIns="0" rtlCol="0" anchor="ctr"/>
          <a:lstStyle/>
          <a:p>
            <a:pPr indent="0" marL="0">
              <a:buNone/>
            </a:pPr>
            <a:r>
              <a:rPr lang="en-US" sz="1400" b="1" spc="200" kern="0" dirty="0">
                <a:solidFill>
                  <a:schemeClr val="accent1"/>
                </a:solidFill>
              </a:rPr>
              <a:t>PNEUMATICS AND DYNAMICS  ·  23ME2002</a:t>
            </a:r>
            <a:endParaRPr lang="en-US" sz="1400" dirty="0"/>
          </a:p>
        </p:txBody>
      </p:sp>
      <p:sp>
        <p:nvSpPr>
          <p:cNvPr id="5" name="Text 0"/>
          <p:cNvSpPr/>
          <p:nvPr>
            <p:ph idx="100" type="title" hasCustomPrompt="1"/>
          </p:nvPr>
        </p:nvSpPr>
        <p:spPr>
          <a:xfrm>
            <a:off x="548640" y="1417320"/>
            <a:ext cx="6675120" cy="2286000"/>
          </a:xfrm>
          <a:prstGeom prst="rect">
            <a:avLst/>
          </a:prstGeom>
          <a:noFill/>
          <a:ln/>
        </p:spPr>
        <p:txBody>
          <a:bodyPr wrap="square" lIns="0" tIns="0" rIns="0" bIns="0" rtlCol="0" anchor="t"/>
          <a:lstStyle/>
          <a:p>
            <a:pPr algn="l" indent="0" marL="0">
              <a:buNone/>
            </a:pPr>
            <a:r>
              <a:rPr lang="en-US" sz="3400" b="1" dirty="0">
                <a:solidFill>
                  <a:schemeClr val="bg1"/>
                </a:solidFill>
              </a:rPr>
              <a:t>CFD Characterisation of a Helical-Channel Fluid Inerter for Race-Car Suspension</a:t>
            </a:r>
            <a:endParaRPr lang="en-US" sz="3400" dirty="0"/>
          </a:p>
        </p:txBody>
      </p:sp>
      <p:sp>
        <p:nvSpPr>
          <p:cNvPr id="6" name="Text 3"/>
          <p:cNvSpPr txBox="1"/>
          <p:nvPr/>
        </p:nvSpPr>
        <p:spPr>
          <a:xfrm>
            <a:off x="548640" y="3291840"/>
            <a:ext cx="6675120" cy="731520"/>
          </a:xfrm>
          <a:prstGeom prst="rect">
            <a:avLst/>
          </a:prstGeom>
          <a:noFill/>
          <a:ln/>
        </p:spPr>
        <p:txBody>
          <a:bodyPr wrap="square" lIns="0" tIns="0" rIns="0" bIns="0" rtlCol="0" anchor="ctr"/>
          <a:lstStyle/>
          <a:p>
            <a:pPr indent="0" marL="0">
              <a:buNone/>
            </a:pPr>
            <a:r>
              <a:rPr lang="en-US" sz="1600" i="1" dirty="0">
                <a:solidFill>
                  <a:schemeClr val="bg2"/>
                </a:solidFill>
              </a:rPr>
              <a:t>The J-damper: how much of the ideal inerter's grip benefit survives real fluid behaviour?</a:t>
            </a:r>
            <a:endParaRPr lang="en-US" sz="1600" dirty="0"/>
          </a:p>
        </p:txBody>
      </p:sp>
      <p:sp>
        <p:nvSpPr>
          <p:cNvPr id="7" name="Text 4"/>
          <p:cNvSpPr txBox="1"/>
          <p:nvPr/>
        </p:nvSpPr>
        <p:spPr>
          <a:xfrm>
            <a:off x="548640" y="4617720"/>
            <a:ext cx="6675120" cy="274320"/>
          </a:xfrm>
          <a:prstGeom prst="rect">
            <a:avLst/>
          </a:prstGeom>
          <a:noFill/>
          <a:ln/>
        </p:spPr>
        <p:txBody>
          <a:bodyPr wrap="square" lIns="0" tIns="0" rIns="0" bIns="0" rtlCol="0" anchor="ctr"/>
          <a:lstStyle/>
          <a:p>
            <a:pPr indent="0" marL="0">
              <a:buNone/>
            </a:pPr>
            <a:r>
              <a:rPr lang="en-US" sz="1100" b="1" spc="200" kern="0" dirty="0">
                <a:solidFill>
                  <a:srgbClr val="9AA4AE"/>
                </a:solidFill>
              </a:rPr>
              <a:t>PRESENTED BY</a:t>
            </a:r>
            <a:endParaRPr lang="en-US" sz="1100" dirty="0"/>
          </a:p>
        </p:txBody>
      </p:sp>
      <p:sp>
        <p:nvSpPr>
          <p:cNvPr id="8" name="Text 5"/>
          <p:cNvSpPr txBox="1"/>
          <p:nvPr/>
        </p:nvSpPr>
        <p:spPr>
          <a:xfrm>
            <a:off x="548640" y="4937760"/>
            <a:ext cx="6675120" cy="73152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Rishi Gerolaga Kumar</a:t>
            </a:r>
            <a:pPr indent="0" marL="0">
              <a:spcAft>
                <a:spcPts val="400"/>
              </a:spcAft>
              <a:buNone/>
            </a:pPr>
            <a:r>
              <a:rPr lang="en-US" sz="1600" dirty="0">
                <a:solidFill>
                  <a:schemeClr val="accent1"/>
                </a:solidFill>
              </a:rPr>
              <a:t>   URK24RA3001</a:t>
            </a:r>
            <a:endParaRPr lang="en-US" sz="1600" dirty="0"/>
          </a:p>
          <a:p>
            <a:pPr indent="0" marL="0">
              <a:spcAft>
                <a:spcPts val="400"/>
              </a:spcAft>
              <a:buNone/>
            </a:pPr>
            <a:r>
              <a:rPr lang="en-US" sz="1600" b="1" dirty="0">
                <a:solidFill>
                  <a:schemeClr val="bg1"/>
                </a:solidFill>
              </a:rPr>
              <a:t>C Y Nicholas</a:t>
            </a:r>
            <a:pPr indent="0" marL="0">
              <a:spcAft>
                <a:spcPts val="400"/>
              </a:spcAft>
              <a:buNone/>
            </a:pPr>
            <a:r>
              <a:rPr lang="en-US" sz="1600" dirty="0">
                <a:solidFill>
                  <a:schemeClr val="accent1"/>
                </a:solidFill>
              </a:rPr>
              <a:t>   URK24RA3012</a:t>
            </a:r>
            <a:endParaRPr lang="en-US" sz="1600" dirty="0"/>
          </a:p>
        </p:txBody>
      </p:sp>
      <p:sp>
        <p:nvSpPr>
          <p:cNvPr id="9" name="Text 6"/>
          <p:cNvSpPr txBox="1"/>
          <p:nvPr/>
        </p:nvSpPr>
        <p:spPr>
          <a:xfrm>
            <a:off x="548640" y="5989320"/>
            <a:ext cx="6675120" cy="320040"/>
          </a:xfrm>
          <a:prstGeom prst="rect">
            <a:avLst/>
          </a:prstGeom>
          <a:noFill/>
          <a:ln/>
        </p:spPr>
        <p:txBody>
          <a:bodyPr wrap="square" lIns="0" tIns="0" rIns="0" bIns="0" rtlCol="0" anchor="ctr"/>
          <a:lstStyle/>
          <a:p>
            <a:pPr indent="0" marL="0">
              <a:buNone/>
            </a:pPr>
            <a:r>
              <a:rPr lang="en-US" sz="1300" dirty="0">
                <a:solidFill>
                  <a:srgbClr val="9AA4AE"/>
                </a:solidFill>
              </a:rPr>
              <a:t>Karunya Institute of Technology and Sciences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What we will cover</a:t>
            </a:r>
            <a:endParaRPr lang="en-US" sz="3000" dirty="0"/>
          </a:p>
        </p:txBody>
      </p:sp>
      <p:sp>
        <p:nvSpPr>
          <p:cNvPr id="3" name="agenda 1"/>
          <p:cNvSpPr/>
          <p:nvPr/>
        </p:nvSpPr>
        <p:spPr>
          <a:xfrm>
            <a:off x="548640" y="1371600"/>
            <a:ext cx="1998878" cy="3291840"/>
          </a:xfrm>
          <a:prstGeom prst="roundRect">
            <a:avLst>
              <a:gd name="adj" fmla="val 3660"/>
            </a:avLst>
          </a:prstGeom>
          <a:solidFill>
            <a:schemeClr val="bg2"/>
          </a:solidFill>
          <a:ln/>
        </p:spPr>
      </p:sp>
      <p:sp>
        <p:nvSpPr>
          <p:cNvPr id="4" name="number 1"/>
          <p:cNvSpPr txBox="1"/>
          <p:nvPr/>
        </p:nvSpPr>
        <p:spPr>
          <a:xfrm>
            <a:off x="822960" y="16459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822960" y="2514600"/>
            <a:ext cx="1450238" cy="457200"/>
          </a:xfrm>
          <a:prstGeom prst="rect">
            <a:avLst/>
          </a:prstGeom>
          <a:noFill/>
          <a:ln/>
        </p:spPr>
        <p:txBody>
          <a:bodyPr wrap="square" lIns="0" tIns="0" rIns="0" bIns="0" rtlCol="0" anchor="ctr"/>
          <a:lstStyle/>
          <a:p>
            <a:pPr indent="0" marL="0">
              <a:buNone/>
            </a:pPr>
            <a:r>
              <a:rPr lang="en-US" sz="1800" b="1" dirty="0">
                <a:solidFill>
                  <a:schemeClr val="tx1"/>
                </a:solidFill>
              </a:rPr>
              <a:t>Background</a:t>
            </a:r>
            <a:endParaRPr lang="en-US" sz="1800" dirty="0"/>
          </a:p>
        </p:txBody>
      </p:sp>
      <p:sp>
        <p:nvSpPr>
          <p:cNvPr id="6" name="Text 4"/>
          <p:cNvSpPr txBox="1"/>
          <p:nvPr/>
        </p:nvSpPr>
        <p:spPr>
          <a:xfrm>
            <a:off x="822960" y="3017520"/>
            <a:ext cx="1450238" cy="1508760"/>
          </a:xfrm>
          <a:prstGeom prst="rect">
            <a:avLst/>
          </a:prstGeom>
          <a:noFill/>
          <a:ln/>
        </p:spPr>
        <p:txBody>
          <a:bodyPr wrap="square" lIns="0" tIns="0" rIns="0" bIns="0" rtlCol="0" anchor="t"/>
          <a:lstStyle/>
          <a:p>
            <a:pPr indent="0" marL="0">
              <a:buNone/>
            </a:pPr>
            <a:r>
              <a:rPr lang="en-US" sz="1600" dirty="0">
                <a:solidFill>
                  <a:schemeClr val="tx2"/>
                </a:solidFill>
              </a:rPr>
              <a:t>The inerter, the J-damper and why real fluid behaviour matters</a:t>
            </a:r>
            <a:endParaRPr lang="en-US" sz="1600" dirty="0"/>
          </a:p>
        </p:txBody>
      </p:sp>
      <p:sp>
        <p:nvSpPr>
          <p:cNvPr id="7" name="agenda 2"/>
          <p:cNvSpPr/>
          <p:nvPr/>
        </p:nvSpPr>
        <p:spPr>
          <a:xfrm>
            <a:off x="2821838" y="1371600"/>
            <a:ext cx="1998878" cy="3291840"/>
          </a:xfrm>
          <a:prstGeom prst="roundRect">
            <a:avLst>
              <a:gd name="adj" fmla="val 3660"/>
            </a:avLst>
          </a:prstGeom>
          <a:solidFill>
            <a:schemeClr val="bg2"/>
          </a:solidFill>
          <a:ln/>
        </p:spPr>
      </p:sp>
      <p:sp>
        <p:nvSpPr>
          <p:cNvPr id="8" name="number 2"/>
          <p:cNvSpPr txBox="1"/>
          <p:nvPr/>
        </p:nvSpPr>
        <p:spPr>
          <a:xfrm>
            <a:off x="3096158" y="16459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3096158" y="2514600"/>
            <a:ext cx="1450238" cy="457200"/>
          </a:xfrm>
          <a:prstGeom prst="rect">
            <a:avLst/>
          </a:prstGeom>
          <a:noFill/>
          <a:ln/>
        </p:spPr>
        <p:txBody>
          <a:bodyPr wrap="square" lIns="0" tIns="0" rIns="0" bIns="0" rtlCol="0" anchor="ctr"/>
          <a:lstStyle/>
          <a:p>
            <a:pPr indent="0" marL="0">
              <a:buNone/>
            </a:pPr>
            <a:r>
              <a:rPr lang="en-US" sz="1800" b="1" dirty="0">
                <a:solidFill>
                  <a:schemeClr val="tx1"/>
                </a:solidFill>
              </a:rPr>
              <a:t>Method</a:t>
            </a:r>
            <a:endParaRPr lang="en-US" sz="1800" dirty="0"/>
          </a:p>
        </p:txBody>
      </p:sp>
      <p:sp>
        <p:nvSpPr>
          <p:cNvPr id="10" name="Text 8"/>
          <p:cNvSpPr txBox="1"/>
          <p:nvPr/>
        </p:nvSpPr>
        <p:spPr>
          <a:xfrm>
            <a:off x="3096158" y="3017520"/>
            <a:ext cx="1450238" cy="1508760"/>
          </a:xfrm>
          <a:prstGeom prst="rect">
            <a:avLst/>
          </a:prstGeom>
          <a:noFill/>
          <a:ln/>
        </p:spPr>
        <p:txBody>
          <a:bodyPr wrap="square" lIns="0" tIns="0" rIns="0" bIns="0" rtlCol="0" anchor="t"/>
          <a:lstStyle/>
          <a:p>
            <a:pPr indent="0" marL="0">
              <a:buNone/>
            </a:pPr>
            <a:r>
              <a:rPr lang="en-US" sz="1600" dirty="0">
                <a:solidFill>
                  <a:schemeClr val="tx2"/>
                </a:solidFill>
              </a:rPr>
              <a:t>Meshing, CFD validation, oscillating-flow CFD and vehicle models</a:t>
            </a:r>
            <a:endParaRPr lang="en-US" sz="1600" dirty="0"/>
          </a:p>
        </p:txBody>
      </p:sp>
      <p:sp>
        <p:nvSpPr>
          <p:cNvPr id="11" name="agenda 3"/>
          <p:cNvSpPr/>
          <p:nvPr/>
        </p:nvSpPr>
        <p:spPr>
          <a:xfrm>
            <a:off x="5095037" y="1371600"/>
            <a:ext cx="1998878" cy="3291840"/>
          </a:xfrm>
          <a:prstGeom prst="roundRect">
            <a:avLst>
              <a:gd name="adj" fmla="val 3660"/>
            </a:avLst>
          </a:prstGeom>
          <a:solidFill>
            <a:schemeClr val="bg2"/>
          </a:solidFill>
          <a:ln/>
        </p:spPr>
      </p:sp>
      <p:sp>
        <p:nvSpPr>
          <p:cNvPr id="12" name="number 3"/>
          <p:cNvSpPr txBox="1"/>
          <p:nvPr/>
        </p:nvSpPr>
        <p:spPr>
          <a:xfrm>
            <a:off x="5369357" y="16459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5369357" y="2514600"/>
            <a:ext cx="1450238" cy="457200"/>
          </a:xfrm>
          <a:prstGeom prst="rect">
            <a:avLst/>
          </a:prstGeom>
          <a:noFill/>
          <a:ln/>
        </p:spPr>
        <p:txBody>
          <a:bodyPr wrap="square" lIns="0" tIns="0" rIns="0" bIns="0" rtlCol="0" anchor="ctr"/>
          <a:lstStyle/>
          <a:p>
            <a:pPr indent="0" marL="0">
              <a:buNone/>
            </a:pPr>
            <a:r>
              <a:rPr lang="en-US" sz="1800" b="1" dirty="0">
                <a:solidFill>
                  <a:schemeClr val="tx1"/>
                </a:solidFill>
              </a:rPr>
              <a:t>CFD results</a:t>
            </a:r>
            <a:endParaRPr lang="en-US" sz="1800" dirty="0"/>
          </a:p>
        </p:txBody>
      </p:sp>
      <p:sp>
        <p:nvSpPr>
          <p:cNvPr id="14" name="Text 12"/>
          <p:cNvSpPr txBox="1"/>
          <p:nvPr/>
        </p:nvSpPr>
        <p:spPr>
          <a:xfrm>
            <a:off x="5369357" y="3017520"/>
            <a:ext cx="1450238" cy="1508760"/>
          </a:xfrm>
          <a:prstGeom prst="rect">
            <a:avLst/>
          </a:prstGeom>
          <a:noFill/>
          <a:ln/>
        </p:spPr>
        <p:txBody>
          <a:bodyPr wrap="square" lIns="0" tIns="0" rIns="0" bIns="0" rtlCol="0" anchor="t"/>
          <a:lstStyle/>
          <a:p>
            <a:pPr indent="0" marL="0">
              <a:buNone/>
            </a:pPr>
            <a:r>
              <a:rPr lang="en-US" sz="1600" dirty="0">
                <a:solidFill>
                  <a:schemeClr val="tx2"/>
                </a:solidFill>
              </a:rPr>
              <a:t>Inertance, parasitic damping, port losses and cavitation</a:t>
            </a:r>
            <a:endParaRPr lang="en-US" sz="1600" dirty="0"/>
          </a:p>
        </p:txBody>
      </p:sp>
      <p:sp>
        <p:nvSpPr>
          <p:cNvPr id="15" name="agenda 4"/>
          <p:cNvSpPr/>
          <p:nvPr/>
        </p:nvSpPr>
        <p:spPr>
          <a:xfrm>
            <a:off x="7368235" y="1371600"/>
            <a:ext cx="1998878" cy="3291840"/>
          </a:xfrm>
          <a:prstGeom prst="roundRect">
            <a:avLst>
              <a:gd name="adj" fmla="val 3660"/>
            </a:avLst>
          </a:prstGeom>
          <a:solidFill>
            <a:schemeClr val="bg2"/>
          </a:solidFill>
          <a:ln/>
        </p:spPr>
      </p:sp>
      <p:sp>
        <p:nvSpPr>
          <p:cNvPr id="16" name="number 4"/>
          <p:cNvSpPr txBox="1"/>
          <p:nvPr/>
        </p:nvSpPr>
        <p:spPr>
          <a:xfrm>
            <a:off x="7642555" y="16459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7642555" y="2514600"/>
            <a:ext cx="1450238" cy="457200"/>
          </a:xfrm>
          <a:prstGeom prst="rect">
            <a:avLst/>
          </a:prstGeom>
          <a:noFill/>
          <a:ln/>
        </p:spPr>
        <p:txBody>
          <a:bodyPr wrap="square" lIns="0" tIns="0" rIns="0" bIns="0" rtlCol="0" anchor="ctr"/>
          <a:lstStyle/>
          <a:p>
            <a:pPr indent="0" marL="0">
              <a:buNone/>
            </a:pPr>
            <a:r>
              <a:rPr lang="en-US" sz="1800" b="1" dirty="0">
                <a:solidFill>
                  <a:schemeClr val="tx1"/>
                </a:solidFill>
              </a:rPr>
              <a:t>Vehicle results</a:t>
            </a:r>
            <a:endParaRPr lang="en-US" sz="1800" dirty="0"/>
          </a:p>
        </p:txBody>
      </p:sp>
      <p:sp>
        <p:nvSpPr>
          <p:cNvPr id="18" name="Text 16"/>
          <p:cNvSpPr txBox="1"/>
          <p:nvPr/>
        </p:nvSpPr>
        <p:spPr>
          <a:xfrm>
            <a:off x="7642555" y="3017520"/>
            <a:ext cx="1450238" cy="1508760"/>
          </a:xfrm>
          <a:prstGeom prst="rect">
            <a:avLst/>
          </a:prstGeom>
          <a:noFill/>
          <a:ln/>
        </p:spPr>
        <p:txBody>
          <a:bodyPr wrap="square" lIns="0" tIns="0" rIns="0" bIns="0" rtlCol="0" anchor="t"/>
          <a:lstStyle/>
          <a:p>
            <a:pPr indent="0" marL="0">
              <a:buNone/>
            </a:pPr>
            <a:r>
              <a:rPr lang="en-US" sz="1600" dirty="0">
                <a:solidFill>
                  <a:schemeClr val="tx2"/>
                </a:solidFill>
              </a:rPr>
              <a:t>Quarter-car grip and full-car laps of real circuits</a:t>
            </a:r>
            <a:endParaRPr lang="en-US" sz="1600" dirty="0"/>
          </a:p>
        </p:txBody>
      </p:sp>
      <p:sp>
        <p:nvSpPr>
          <p:cNvPr id="19" name="agenda 5"/>
          <p:cNvSpPr/>
          <p:nvPr/>
        </p:nvSpPr>
        <p:spPr>
          <a:xfrm>
            <a:off x="9641434" y="1371600"/>
            <a:ext cx="1998878" cy="3291840"/>
          </a:xfrm>
          <a:prstGeom prst="roundRect">
            <a:avLst>
              <a:gd name="adj" fmla="val 3660"/>
            </a:avLst>
          </a:prstGeom>
          <a:solidFill>
            <a:schemeClr val="bg2"/>
          </a:solidFill>
          <a:ln/>
        </p:spPr>
      </p:sp>
      <p:sp>
        <p:nvSpPr>
          <p:cNvPr id="20" name="number 5"/>
          <p:cNvSpPr txBox="1"/>
          <p:nvPr/>
        </p:nvSpPr>
        <p:spPr>
          <a:xfrm>
            <a:off x="9915754" y="16459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9"/>
          <p:cNvSpPr txBox="1"/>
          <p:nvPr/>
        </p:nvSpPr>
        <p:spPr>
          <a:xfrm>
            <a:off x="9915754" y="2514600"/>
            <a:ext cx="1450238" cy="457200"/>
          </a:xfrm>
          <a:prstGeom prst="rect">
            <a:avLst/>
          </a:prstGeom>
          <a:noFill/>
          <a:ln/>
        </p:spPr>
        <p:txBody>
          <a:bodyPr wrap="square" lIns="0" tIns="0" rIns="0" bIns="0" rtlCol="0" anchor="ctr"/>
          <a:lstStyle/>
          <a:p>
            <a:pPr indent="0" marL="0">
              <a:buNone/>
            </a:pPr>
            <a:r>
              <a:rPr lang="en-US" sz="1800" b="1" dirty="0">
                <a:solidFill>
                  <a:schemeClr val="tx1"/>
                </a:solidFill>
              </a:rPr>
              <a:t>Conclusions</a:t>
            </a:r>
            <a:endParaRPr lang="en-US" sz="1800" dirty="0"/>
          </a:p>
        </p:txBody>
      </p:sp>
      <p:sp>
        <p:nvSpPr>
          <p:cNvPr id="22" name="Text 20"/>
          <p:cNvSpPr txBox="1"/>
          <p:nvPr/>
        </p:nvSpPr>
        <p:spPr>
          <a:xfrm>
            <a:off x="9915754" y="3017520"/>
            <a:ext cx="1450238" cy="1508760"/>
          </a:xfrm>
          <a:prstGeom prst="rect">
            <a:avLst/>
          </a:prstGeom>
          <a:noFill/>
          <a:ln/>
        </p:spPr>
        <p:txBody>
          <a:bodyPr wrap="square" lIns="0" tIns="0" rIns="0" bIns="0" rtlCol="0" anchor="t"/>
          <a:lstStyle/>
          <a:p>
            <a:pPr indent="0" marL="0">
              <a:buNone/>
            </a:pPr>
            <a:r>
              <a:rPr lang="en-US" sz="1600" dirty="0">
                <a:solidFill>
                  <a:schemeClr val="tx2"/>
                </a:solidFill>
              </a:rPr>
              <a:t>Findings, limitations and next steps</a:t>
            </a:r>
            <a:endParaRPr lang="en-US" sz="1600" dirty="0"/>
          </a:p>
        </p:txBody>
      </p:sp>
      <p:sp>
        <p:nvSpPr>
          <p:cNvPr id="23" name="research question card"/>
          <p:cNvSpPr/>
          <p:nvPr/>
        </p:nvSpPr>
        <p:spPr>
          <a:xfrm>
            <a:off x="548640" y="4937760"/>
            <a:ext cx="11091672" cy="1280160"/>
          </a:xfrm>
          <a:prstGeom prst="roundRect">
            <a:avLst>
              <a:gd name="adj" fmla="val 5714"/>
            </a:avLst>
          </a:prstGeom>
          <a:solidFill>
            <a:schemeClr val="tx1"/>
          </a:solidFill>
          <a:ln/>
        </p:spPr>
      </p:sp>
      <p:sp>
        <p:nvSpPr>
          <p:cNvPr id="24" name="badge FaLightbulb"/>
          <p:cNvSpPr/>
          <p:nvPr/>
        </p:nvSpPr>
        <p:spPr>
          <a:xfrm>
            <a:off x="822960" y="5257800"/>
            <a:ext cx="640080" cy="640080"/>
          </a:xfrm>
          <a:prstGeom prst="ellipse">
            <a:avLst/>
          </a:prstGeom>
          <a:solidFill>
            <a:schemeClr val="accent1"/>
          </a:solidFill>
          <a:ln/>
        </p:spPr>
      </p:sp>
      <p:pic>
        <p:nvPicPr>
          <p:cNvPr id="25" name="Image 0" descr="Lightbulb">    </p:cNvPr>
          <p:cNvPicPr>
            <a:picLocks noChangeAspect="1"/>
          </p:cNvPicPr>
          <p:nvPr/>
        </p:nvPicPr>
        <p:blipFill>
          <a:blip r:embed="rId1"/>
          <a:stretch>
            <a:fillRect/>
          </a:stretch>
        </p:blipFill>
        <p:spPr>
          <a:xfrm>
            <a:off x="989381" y="5424221"/>
            <a:ext cx="307238" cy="307238"/>
          </a:xfrm>
          <a:prstGeom prst="rect">
            <a:avLst/>
          </a:prstGeom>
        </p:spPr>
      </p:pic>
      <p:sp>
        <p:nvSpPr>
          <p:cNvPr id="26" name="Text 23"/>
          <p:cNvSpPr txBox="1"/>
          <p:nvPr/>
        </p:nvSpPr>
        <p:spPr>
          <a:xfrm>
            <a:off x="1691640" y="4937760"/>
            <a:ext cx="9692640" cy="1280160"/>
          </a:xfrm>
          <a:prstGeom prst="rect">
            <a:avLst/>
          </a:prstGeom>
          <a:noFill/>
          <a:ln/>
        </p:spPr>
        <p:txBody>
          <a:bodyPr wrap="square" lIns="0" tIns="0" rIns="0" bIns="0" rtlCol="0" anchor="ctr"/>
          <a:lstStyle/>
          <a:p>
            <a:pPr indent="0" marL="0">
              <a:buNone/>
            </a:pPr>
            <a:r>
              <a:rPr lang="en-US" sz="1800" b="1" dirty="0">
                <a:solidFill>
                  <a:schemeClr val="accent1"/>
                </a:solidFill>
              </a:rPr>
              <a:t>Research question:  </a:t>
            </a:r>
            <a:pPr indent="0" marL="0">
              <a:buNone/>
            </a:pPr>
            <a:r>
              <a:rPr lang="en-US" sz="1800" dirty="0">
                <a:solidFill>
                  <a:schemeClr val="bg1"/>
                </a:solidFill>
              </a:rPr>
              <a:t>How far does a real fluid inerter depart from the ideal model, and how much of the theoretical grip benefit to a race car survives?</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What is an inerter?</a:t>
            </a:r>
            <a:endParaRPr lang="en-US" sz="3000" dirty="0"/>
          </a:p>
        </p:txBody>
      </p:sp>
      <p:sp>
        <p:nvSpPr>
          <p:cNvPr id="3" name="equation card"/>
          <p:cNvSpPr/>
          <p:nvPr/>
        </p:nvSpPr>
        <p:spPr>
          <a:xfrm>
            <a:off x="548640" y="1371600"/>
            <a:ext cx="6035040" cy="1097280"/>
          </a:xfrm>
          <a:prstGeom prst="roundRect">
            <a:avLst>
              <a:gd name="adj" fmla="val 6667"/>
            </a:avLst>
          </a:prstGeom>
          <a:solidFill>
            <a:schemeClr val="bg2"/>
          </a:solidFill>
          <a:ln/>
        </p:spPr>
      </p:sp>
      <p:sp>
        <p:nvSpPr>
          <p:cNvPr id="4" name="Text 2"/>
          <p:cNvSpPr txBox="1"/>
          <p:nvPr/>
        </p:nvSpPr>
        <p:spPr>
          <a:xfrm>
            <a:off x="822960" y="1463040"/>
            <a:ext cx="3108960" cy="9144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F = b · (a</a:t>
            </a:r>
            <a:pPr indent="0" marL="0">
              <a:buNone/>
            </a:pPr>
            <a:r>
              <a:rPr lang="en-US" sz="3000" b="1" baseline="-40000" dirty="0">
                <a:solidFill>
                  <a:schemeClr val="accent1"/>
                </a:solidFill>
                <a:latin typeface="Cambria" pitchFamily="34" charset="0"/>
                <a:ea typeface="Cambria" pitchFamily="34" charset="-122"/>
                <a:cs typeface="Cambria" pitchFamily="34" charset="-120"/>
              </a:rPr>
              <a:t>1</a:t>
            </a:r>
            <a:pPr indent="0" marL="0">
              <a:buNone/>
            </a:pPr>
            <a:r>
              <a:rPr lang="en-US" sz="3000" b="1" dirty="0">
                <a:solidFill>
                  <a:schemeClr val="accent1"/>
                </a:solidFill>
                <a:latin typeface="Cambria" pitchFamily="34" charset="0"/>
                <a:ea typeface="Cambria" pitchFamily="34" charset="-122"/>
                <a:cs typeface="Cambria" pitchFamily="34" charset="-120"/>
              </a:rPr>
              <a:t> − a</a:t>
            </a:r>
            <a:pPr indent="0" marL="0">
              <a:buNone/>
            </a:pPr>
            <a:r>
              <a:rPr lang="en-US" sz="3000" b="1" baseline="-40000" dirty="0">
                <a:solidFill>
                  <a:schemeClr val="accent1"/>
                </a:solidFill>
                <a:latin typeface="Cambria" pitchFamily="34" charset="0"/>
                <a:ea typeface="Cambria" pitchFamily="34" charset="-122"/>
                <a:cs typeface="Cambria" pitchFamily="34" charset="-120"/>
              </a:rPr>
              <a:t>2</a:t>
            </a:r>
            <a:pPr indent="0" marL="0">
              <a:buNone/>
            </a:pPr>
            <a:r>
              <a:rPr lang="en-US" sz="3000" b="1" dirty="0">
                <a:solidFill>
                  <a:schemeClr val="accent1"/>
                </a:solidFill>
                <a:latin typeface="Cambria" pitchFamily="34" charset="0"/>
                <a:ea typeface="Cambria" pitchFamily="34" charset="-122"/>
                <a:cs typeface="Cambria" pitchFamily="34" charset="-120"/>
              </a:rPr>
              <a:t>)</a:t>
            </a:r>
            <a:endParaRPr lang="en-US" sz="3000" dirty="0"/>
          </a:p>
        </p:txBody>
      </p:sp>
      <p:sp>
        <p:nvSpPr>
          <p:cNvPr id="5" name="Text 3"/>
          <p:cNvSpPr txBox="1"/>
          <p:nvPr/>
        </p:nvSpPr>
        <p:spPr>
          <a:xfrm>
            <a:off x="3931920" y="1463040"/>
            <a:ext cx="2514600" cy="914400"/>
          </a:xfrm>
          <a:prstGeom prst="rect">
            <a:avLst/>
          </a:prstGeom>
          <a:noFill/>
          <a:ln/>
        </p:spPr>
        <p:txBody>
          <a:bodyPr wrap="square" lIns="0" tIns="0" rIns="0" bIns="0" rtlCol="0" anchor="ctr"/>
          <a:lstStyle/>
          <a:p>
            <a:pPr indent="0" marL="0">
              <a:buNone/>
            </a:pPr>
            <a:r>
              <a:rPr lang="en-US" sz="1400" dirty="0">
                <a:solidFill>
                  <a:schemeClr val="tx2"/>
                </a:solidFill>
              </a:rPr>
              <a:t>Force ∝ relative acceleration of the two ends.  b = inertance, in kg (Smith, 2002)</a:t>
            </a:r>
            <a:endParaRPr lang="en-US" sz="1400" dirty="0"/>
          </a:p>
        </p:txBody>
      </p:sp>
      <p:sp>
        <p:nvSpPr>
          <p:cNvPr id="6" name="Text 4"/>
          <p:cNvSpPr txBox="1"/>
          <p:nvPr/>
        </p:nvSpPr>
        <p:spPr>
          <a:xfrm>
            <a:off x="548640" y="2743200"/>
            <a:ext cx="603504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Raced by McLaren in Formula 1 (2005–2007) under the codename “J-damper”</a:t>
            </a:r>
            <a:endParaRPr lang="en-US" sz="1600" dirty="0"/>
          </a:p>
          <a:p>
            <a:pPr marL="342900" indent="-342900">
              <a:spcAft>
                <a:spcPts val="1000"/>
              </a:spcAft>
              <a:buSzPct val="100000"/>
              <a:buChar char="•"/>
            </a:pPr>
            <a:r>
              <a:rPr lang="en-US" sz="1600" dirty="0">
                <a:solidFill>
                  <a:schemeClr val="tx1"/>
                </a:solidFill>
              </a:rPr>
              <a:t>A fluid inerter makes inertance hydraulically: a piston forces oil through a long, narrow helical channel</a:t>
            </a:r>
            <a:endParaRPr lang="en-US" sz="1600" dirty="0"/>
          </a:p>
          <a:p>
            <a:pPr marL="342900" indent="-342900">
              <a:spcAft>
                <a:spcPts val="1000"/>
              </a:spcAft>
              <a:buSzPct val="100000"/>
              <a:buChar char="•"/>
            </a:pPr>
            <a:r>
              <a:rPr lang="en-US" sz="1600" dirty="0">
                <a:solidFill>
                  <a:schemeClr val="tx1"/>
                </a:solidFill>
              </a:rPr>
              <a:t>The fast-moving oil column acts as a large effective mass</a:t>
            </a:r>
            <a:endParaRPr lang="en-US" sz="1600" dirty="0"/>
          </a:p>
          <a:p>
            <a:pPr marL="342900" indent="-342900">
              <a:spcAft>
                <a:spcPts val="1000"/>
              </a:spcAft>
              <a:buSzPct val="100000"/>
              <a:buChar char="•"/>
            </a:pPr>
            <a:r>
              <a:rPr lang="en-US" sz="1600" dirty="0">
                <a:solidFill>
                  <a:schemeClr val="tx1"/>
                </a:solidFill>
              </a:rPr>
              <a:t>The ideal model F = b·ẍ ignores friction, swirl and frequency effects in the real oil</a:t>
            </a:r>
            <a:endParaRPr lang="en-US" sz="1600" dirty="0"/>
          </a:p>
        </p:txBody>
      </p:sp>
      <p:sp>
        <p:nvSpPr>
          <p:cNvPr id="7" name="baseline inerter card"/>
          <p:cNvSpPr/>
          <p:nvPr/>
        </p:nvSpPr>
        <p:spPr>
          <a:xfrm>
            <a:off x="6949440" y="1371600"/>
            <a:ext cx="4690872" cy="4800600"/>
          </a:xfrm>
          <a:prstGeom prst="roundRect">
            <a:avLst>
              <a:gd name="adj" fmla="val 1559"/>
            </a:avLst>
          </a:prstGeom>
          <a:solidFill>
            <a:schemeClr val="tx1"/>
          </a:solidFill>
          <a:ln/>
        </p:spPr>
      </p:sp>
      <p:sp>
        <p:nvSpPr>
          <p:cNvPr id="8" name="Text 6"/>
          <p:cNvSpPr txBox="1"/>
          <p:nvPr/>
        </p:nvSpPr>
        <p:spPr>
          <a:xfrm>
            <a:off x="7315200" y="1645920"/>
            <a:ext cx="40233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BASELINE INERTER</a:t>
            </a:r>
            <a:endParaRPr lang="en-US" sz="1200" dirty="0"/>
          </a:p>
        </p:txBody>
      </p:sp>
      <p:sp>
        <p:nvSpPr>
          <p:cNvPr id="9" name="Text 7"/>
          <p:cNvSpPr txBox="1"/>
          <p:nvPr/>
        </p:nvSpPr>
        <p:spPr>
          <a:xfrm>
            <a:off x="7315200" y="2011680"/>
            <a:ext cx="4023360" cy="731520"/>
          </a:xfrm>
          <a:prstGeom prst="rect">
            <a:avLst/>
          </a:prstGeom>
          <a:noFill/>
          <a:ln/>
        </p:spPr>
        <p:txBody>
          <a:bodyPr wrap="square" lIns="0" tIns="0" rIns="0" bIns="0" rtlCol="0" anchor="b"/>
          <a:lstStyle/>
          <a:p>
            <a:pPr indent="0" marL="0">
              <a:buNone/>
            </a:pPr>
            <a:r>
              <a:rPr lang="en-US" sz="4000" b="1" dirty="0">
                <a:solidFill>
                  <a:schemeClr val="bg1"/>
                </a:solidFill>
              </a:rPr>
              <a:t>46 g</a:t>
            </a:r>
            <a:pPr indent="0" marL="0">
              <a:buNone/>
            </a:pPr>
            <a:r>
              <a:rPr lang="en-US" sz="1600" dirty="0">
                <a:solidFill>
                  <a:schemeClr val="bg2"/>
                </a:solidFill>
              </a:rPr>
              <a:t>  of oil acts like</a:t>
            </a:r>
            <a:endParaRPr lang="en-US" sz="4000" dirty="0"/>
          </a:p>
        </p:txBody>
      </p:sp>
      <p:sp>
        <p:nvSpPr>
          <p:cNvPr id="10" name="Text 8"/>
          <p:cNvSpPr txBox="1"/>
          <p:nvPr/>
        </p:nvSpPr>
        <p:spPr>
          <a:xfrm>
            <a:off x="7315200" y="2743200"/>
            <a:ext cx="4023360" cy="868680"/>
          </a:xfrm>
          <a:prstGeom prst="rect">
            <a:avLst/>
          </a:prstGeom>
          <a:noFill/>
          <a:ln/>
        </p:spPr>
        <p:txBody>
          <a:bodyPr wrap="square" lIns="0" tIns="0" rIns="0" bIns="0" rtlCol="0" anchor="ctr"/>
          <a:lstStyle/>
          <a:p>
            <a:pPr indent="0" marL="0">
              <a:buNone/>
            </a:pPr>
            <a:r>
              <a:rPr lang="en-US" sz="5400" b="1" dirty="0">
                <a:solidFill>
                  <a:schemeClr val="accent1"/>
                </a:solidFill>
              </a:rPr>
              <a:t>91.7 kg</a:t>
            </a:r>
            <a:endParaRPr lang="en-US" sz="5400" dirty="0"/>
          </a:p>
        </p:txBody>
      </p:sp>
      <p:sp>
        <p:nvSpPr>
          <p:cNvPr id="11" name="Text 9"/>
          <p:cNvSpPr txBox="1"/>
          <p:nvPr/>
        </p:nvSpPr>
        <p:spPr>
          <a:xfrm>
            <a:off x="7315200" y="3931920"/>
            <a:ext cx="2011680" cy="411480"/>
          </a:xfrm>
          <a:prstGeom prst="rect">
            <a:avLst/>
          </a:prstGeom>
          <a:noFill/>
          <a:ln/>
        </p:spPr>
        <p:txBody>
          <a:bodyPr wrap="square" lIns="0" tIns="0" rIns="0" bIns="0" rtlCol="0" anchor="ctr"/>
          <a:lstStyle/>
          <a:p>
            <a:pPr indent="0" marL="0">
              <a:buNone/>
            </a:pPr>
            <a:r>
              <a:rPr lang="en-US" sz="1400" dirty="0">
                <a:solidFill>
                  <a:srgbClr val="9AA4AE"/>
                </a:solidFill>
              </a:rPr>
              <a:t>Piston diameter</a:t>
            </a:r>
            <a:endParaRPr lang="en-US" sz="1400" dirty="0"/>
          </a:p>
        </p:txBody>
      </p:sp>
      <p:sp>
        <p:nvSpPr>
          <p:cNvPr id="12" name="Text 10"/>
          <p:cNvSpPr txBox="1"/>
          <p:nvPr/>
        </p:nvSpPr>
        <p:spPr>
          <a:xfrm>
            <a:off x="9326880" y="3931920"/>
            <a:ext cx="2011680" cy="411480"/>
          </a:xfrm>
          <a:prstGeom prst="rect">
            <a:avLst/>
          </a:prstGeom>
          <a:noFill/>
          <a:ln/>
        </p:spPr>
        <p:txBody>
          <a:bodyPr wrap="square" lIns="0" tIns="0" rIns="0" bIns="0" rtlCol="0" anchor="ctr"/>
          <a:lstStyle/>
          <a:p>
            <a:pPr algn="r" indent="0" marL="0">
              <a:buNone/>
            </a:pPr>
            <a:r>
              <a:rPr lang="en-US" sz="1400" b="1" dirty="0">
                <a:solidFill>
                  <a:schemeClr val="bg1"/>
                </a:solidFill>
              </a:rPr>
              <a:t>40 mm</a:t>
            </a:r>
            <a:endParaRPr lang="en-US" sz="1400" dirty="0"/>
          </a:p>
        </p:txBody>
      </p:sp>
      <p:sp>
        <p:nvSpPr>
          <p:cNvPr id="13" name="Text 11"/>
          <p:cNvSpPr txBox="1"/>
          <p:nvPr/>
        </p:nvSpPr>
        <p:spPr>
          <a:xfrm>
            <a:off x="7315200" y="4434840"/>
            <a:ext cx="2011680" cy="411480"/>
          </a:xfrm>
          <a:prstGeom prst="rect">
            <a:avLst/>
          </a:prstGeom>
          <a:noFill/>
          <a:ln/>
        </p:spPr>
        <p:txBody>
          <a:bodyPr wrap="square" lIns="0" tIns="0" rIns="0" bIns="0" rtlCol="0" anchor="ctr"/>
          <a:lstStyle/>
          <a:p>
            <a:pPr indent="0" marL="0">
              <a:buNone/>
            </a:pPr>
            <a:r>
              <a:rPr lang="en-US" sz="1400" dirty="0">
                <a:solidFill>
                  <a:srgbClr val="9AA4AE"/>
                </a:solidFill>
              </a:rPr>
              <a:t>Channel</a:t>
            </a:r>
            <a:endParaRPr lang="en-US" sz="1400" dirty="0"/>
          </a:p>
        </p:txBody>
      </p:sp>
      <p:sp>
        <p:nvSpPr>
          <p:cNvPr id="14" name="Text 12"/>
          <p:cNvSpPr txBox="1"/>
          <p:nvPr/>
        </p:nvSpPr>
        <p:spPr>
          <a:xfrm>
            <a:off x="9326880" y="4434840"/>
            <a:ext cx="2011680" cy="411480"/>
          </a:xfrm>
          <a:prstGeom prst="rect">
            <a:avLst/>
          </a:prstGeom>
          <a:noFill/>
          <a:ln/>
        </p:spPr>
        <p:txBody>
          <a:bodyPr wrap="square" lIns="0" tIns="0" rIns="0" bIns="0" rtlCol="0" anchor="ctr"/>
          <a:lstStyle/>
          <a:p>
            <a:pPr algn="r" indent="0" marL="0">
              <a:buNone/>
            </a:pPr>
            <a:r>
              <a:rPr lang="en-US" sz="1400" b="1" dirty="0">
                <a:solidFill>
                  <a:schemeClr val="bg1"/>
                </a:solidFill>
              </a:rPr>
              <a:t>6 mm × 1.89 m</a:t>
            </a:r>
            <a:endParaRPr lang="en-US" sz="1400" dirty="0"/>
          </a:p>
        </p:txBody>
      </p:sp>
      <p:sp>
        <p:nvSpPr>
          <p:cNvPr id="15" name="Text 13"/>
          <p:cNvSpPr txBox="1"/>
          <p:nvPr/>
        </p:nvSpPr>
        <p:spPr>
          <a:xfrm>
            <a:off x="7315200" y="4937760"/>
            <a:ext cx="2011680" cy="411480"/>
          </a:xfrm>
          <a:prstGeom prst="rect">
            <a:avLst/>
          </a:prstGeom>
          <a:noFill/>
          <a:ln/>
        </p:spPr>
        <p:txBody>
          <a:bodyPr wrap="square" lIns="0" tIns="0" rIns="0" bIns="0" rtlCol="0" anchor="ctr"/>
          <a:lstStyle/>
          <a:p>
            <a:pPr indent="0" marL="0">
              <a:buNone/>
            </a:pPr>
            <a:r>
              <a:rPr lang="en-US" sz="1400" dirty="0">
                <a:solidFill>
                  <a:srgbClr val="9AA4AE"/>
                </a:solidFill>
              </a:rPr>
              <a:t>Coil radius</a:t>
            </a:r>
            <a:endParaRPr lang="en-US" sz="1400" dirty="0"/>
          </a:p>
        </p:txBody>
      </p:sp>
      <p:sp>
        <p:nvSpPr>
          <p:cNvPr id="16" name="Text 14"/>
          <p:cNvSpPr txBox="1"/>
          <p:nvPr/>
        </p:nvSpPr>
        <p:spPr>
          <a:xfrm>
            <a:off x="9326880" y="4937760"/>
            <a:ext cx="2011680" cy="411480"/>
          </a:xfrm>
          <a:prstGeom prst="rect">
            <a:avLst/>
          </a:prstGeom>
          <a:noFill/>
          <a:ln/>
        </p:spPr>
        <p:txBody>
          <a:bodyPr wrap="square" lIns="0" tIns="0" rIns="0" bIns="0" rtlCol="0" anchor="ctr"/>
          <a:lstStyle/>
          <a:p>
            <a:pPr algn="r" indent="0" marL="0">
              <a:buNone/>
            </a:pPr>
            <a:r>
              <a:rPr lang="en-US" sz="1400" b="1" dirty="0">
                <a:solidFill>
                  <a:schemeClr val="bg1"/>
                </a:solidFill>
              </a:rPr>
              <a:t>30 mm</a:t>
            </a:r>
            <a:endParaRPr lang="en-US" sz="1400" dirty="0"/>
          </a:p>
        </p:txBody>
      </p:sp>
      <p:sp>
        <p:nvSpPr>
          <p:cNvPr id="17" name="Text 15"/>
          <p:cNvSpPr txBox="1"/>
          <p:nvPr/>
        </p:nvSpPr>
        <p:spPr>
          <a:xfrm>
            <a:off x="7315200" y="5440680"/>
            <a:ext cx="2011680" cy="411480"/>
          </a:xfrm>
          <a:prstGeom prst="rect">
            <a:avLst/>
          </a:prstGeom>
          <a:noFill/>
          <a:ln/>
        </p:spPr>
        <p:txBody>
          <a:bodyPr wrap="square" lIns="0" tIns="0" rIns="0" bIns="0" rtlCol="0" anchor="ctr"/>
          <a:lstStyle/>
          <a:p>
            <a:pPr indent="0" marL="0">
              <a:buNone/>
            </a:pPr>
            <a:r>
              <a:rPr lang="en-US" sz="1400" dirty="0">
                <a:solidFill>
                  <a:srgbClr val="9AA4AE"/>
                </a:solidFill>
              </a:rPr>
              <a:t>Oil</a:t>
            </a:r>
            <a:endParaRPr lang="en-US" sz="1400" dirty="0"/>
          </a:p>
        </p:txBody>
      </p:sp>
      <p:sp>
        <p:nvSpPr>
          <p:cNvPr id="18" name="Text 16"/>
          <p:cNvSpPr txBox="1"/>
          <p:nvPr/>
        </p:nvSpPr>
        <p:spPr>
          <a:xfrm>
            <a:off x="9326880" y="5440680"/>
            <a:ext cx="2011680" cy="411480"/>
          </a:xfrm>
          <a:prstGeom prst="rect">
            <a:avLst/>
          </a:prstGeom>
          <a:noFill/>
          <a:ln/>
        </p:spPr>
        <p:txBody>
          <a:bodyPr wrap="square" lIns="0" tIns="0" rIns="0" bIns="0" rtlCol="0" anchor="ctr"/>
          <a:lstStyle/>
          <a:p>
            <a:pPr algn="r" indent="0" marL="0">
              <a:buNone/>
            </a:pPr>
            <a:r>
              <a:rPr lang="en-US" sz="1400" b="1" dirty="0">
                <a:solidFill>
                  <a:schemeClr val="bg1"/>
                </a:solidFill>
              </a:rPr>
              <a:t>ISO VG 32</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How the fluid inerter works</a:t>
            </a:r>
            <a:endParaRPr lang="en-US" sz="3000" dirty="0"/>
          </a:p>
        </p:txBody>
      </p:sp>
      <p:pic>
        <p:nvPicPr>
          <p:cNvPr id="3" name="Image 0" descr="CFD animation of the oscillating flow in the helical channel">    </p:cNvPr>
          <p:cNvPicPr>
            <a:picLocks noChangeAspect="1"/>
          </p:cNvPicPr>
          <p:nvPr/>
        </p:nvPicPr>
        <p:blipFill>
          <a:blip r:embed="rId1"/>
          <a:stretch>
            <a:fillRect/>
          </a:stretch>
        </p:blipFill>
        <p:spPr>
          <a:xfrm>
            <a:off x="548640" y="1244483"/>
            <a:ext cx="11091672" cy="3866114"/>
          </a:xfrm>
          <a:prstGeom prst="rect">
            <a:avLst/>
          </a:prstGeom>
        </p:spPr>
      </p:pic>
      <p:sp>
        <p:nvSpPr>
          <p:cNvPr id="4" name="badge FaTachometerAlt"/>
          <p:cNvSpPr/>
          <p:nvPr/>
        </p:nvSpPr>
        <p:spPr>
          <a:xfrm>
            <a:off x="548640" y="5440680"/>
            <a:ext cx="548640" cy="548640"/>
          </a:xfrm>
          <a:prstGeom prst="ellipse">
            <a:avLst/>
          </a:prstGeom>
          <a:solidFill>
            <a:schemeClr val="accent1"/>
          </a:solidFill>
          <a:ln/>
        </p:spPr>
      </p:sp>
      <p:pic>
        <p:nvPicPr>
          <p:cNvPr id="5" name="Image 1" descr="TachometerAlt">    </p:cNvPr>
          <p:cNvPicPr>
            <a:picLocks noChangeAspect="1"/>
          </p:cNvPicPr>
          <p:nvPr/>
        </p:nvPicPr>
        <p:blipFill>
          <a:blip r:embed="rId2"/>
          <a:stretch>
            <a:fillRect/>
          </a:stretch>
        </p:blipFill>
        <p:spPr>
          <a:xfrm>
            <a:off x="691286" y="5583326"/>
            <a:ext cx="263347" cy="263347"/>
          </a:xfrm>
          <a:prstGeom prst="rect">
            <a:avLst/>
          </a:prstGeom>
        </p:spPr>
      </p:pic>
      <p:sp>
        <p:nvSpPr>
          <p:cNvPr id="6" name="Text 2"/>
          <p:cNvSpPr txBox="1"/>
          <p:nvPr/>
        </p:nvSpPr>
        <p:spPr>
          <a:xfrm>
            <a:off x="1280160" y="5349240"/>
            <a:ext cx="2782824" cy="731520"/>
          </a:xfrm>
          <a:prstGeom prst="rect">
            <a:avLst/>
          </a:prstGeom>
          <a:noFill/>
          <a:ln/>
        </p:spPr>
        <p:txBody>
          <a:bodyPr wrap="square" lIns="0" tIns="0" rIns="0" bIns="0" rtlCol="0" anchor="ctr"/>
          <a:lstStyle/>
          <a:p>
            <a:pPr indent="0" marL="0">
              <a:buNone/>
            </a:pPr>
            <a:r>
              <a:rPr lang="en-US" sz="1400" dirty="0">
                <a:solidFill>
                  <a:schemeClr val="tx1"/>
                </a:solidFill>
              </a:rPr>
              <a:t>Piston strokes ±5.6 mm at 10 Hz</a:t>
            </a:r>
            <a:endParaRPr lang="en-US" sz="1400" dirty="0"/>
          </a:p>
        </p:txBody>
      </p:sp>
      <p:sp>
        <p:nvSpPr>
          <p:cNvPr id="7" name="badge FaWater"/>
          <p:cNvSpPr/>
          <p:nvPr/>
        </p:nvSpPr>
        <p:spPr>
          <a:xfrm>
            <a:off x="4337304" y="5440680"/>
            <a:ext cx="548640" cy="548640"/>
          </a:xfrm>
          <a:prstGeom prst="ellipse">
            <a:avLst/>
          </a:prstGeom>
          <a:solidFill>
            <a:schemeClr val="accent1"/>
          </a:solidFill>
          <a:ln/>
        </p:spPr>
      </p:sp>
      <p:pic>
        <p:nvPicPr>
          <p:cNvPr id="8" name="Image 2" descr="Water">    </p:cNvPr>
          <p:cNvPicPr>
            <a:picLocks noChangeAspect="1"/>
          </p:cNvPicPr>
          <p:nvPr/>
        </p:nvPicPr>
        <p:blipFill>
          <a:blip r:embed="rId3"/>
          <a:stretch>
            <a:fillRect/>
          </a:stretch>
        </p:blipFill>
        <p:spPr>
          <a:xfrm>
            <a:off x="4479950" y="5583326"/>
            <a:ext cx="263347" cy="263347"/>
          </a:xfrm>
          <a:prstGeom prst="rect">
            <a:avLst/>
          </a:prstGeom>
        </p:spPr>
      </p:pic>
      <p:sp>
        <p:nvSpPr>
          <p:cNvPr id="9" name="Text 4"/>
          <p:cNvSpPr txBox="1"/>
          <p:nvPr/>
        </p:nvSpPr>
        <p:spPr>
          <a:xfrm>
            <a:off x="5068824" y="5349240"/>
            <a:ext cx="2782824" cy="731520"/>
          </a:xfrm>
          <a:prstGeom prst="rect">
            <a:avLst/>
          </a:prstGeom>
          <a:noFill/>
          <a:ln/>
        </p:spPr>
        <p:txBody>
          <a:bodyPr wrap="square" lIns="0" tIns="0" rIns="0" bIns="0" rtlCol="0" anchor="ctr"/>
          <a:lstStyle/>
          <a:p>
            <a:pPr indent="0" marL="0">
              <a:buNone/>
            </a:pPr>
            <a:r>
              <a:rPr lang="en-US" sz="1400" dirty="0">
                <a:solidFill>
                  <a:schemeClr val="tx1"/>
                </a:solidFill>
              </a:rPr>
              <a:t>Oil in the coil moves about 44× faster than the piston</a:t>
            </a:r>
            <a:endParaRPr lang="en-US" sz="1400" dirty="0"/>
          </a:p>
        </p:txBody>
      </p:sp>
      <p:sp>
        <p:nvSpPr>
          <p:cNvPr id="10" name="badge FaSyncAlt"/>
          <p:cNvSpPr/>
          <p:nvPr/>
        </p:nvSpPr>
        <p:spPr>
          <a:xfrm>
            <a:off x="8125968" y="5440680"/>
            <a:ext cx="548640" cy="548640"/>
          </a:xfrm>
          <a:prstGeom prst="ellipse">
            <a:avLst/>
          </a:prstGeom>
          <a:solidFill>
            <a:schemeClr val="accent1"/>
          </a:solidFill>
          <a:ln/>
        </p:spPr>
      </p:sp>
      <p:pic>
        <p:nvPicPr>
          <p:cNvPr id="11" name="Image 3" descr="SyncAlt">    </p:cNvPr>
          <p:cNvPicPr>
            <a:picLocks noChangeAspect="1"/>
          </p:cNvPicPr>
          <p:nvPr/>
        </p:nvPicPr>
        <p:blipFill>
          <a:blip r:embed="rId4"/>
          <a:stretch>
            <a:fillRect/>
          </a:stretch>
        </p:blipFill>
        <p:spPr>
          <a:xfrm>
            <a:off x="8268614" y="5583326"/>
            <a:ext cx="263347" cy="263347"/>
          </a:xfrm>
          <a:prstGeom prst="rect">
            <a:avLst/>
          </a:prstGeom>
        </p:spPr>
      </p:pic>
      <p:sp>
        <p:nvSpPr>
          <p:cNvPr id="12" name="Text 6"/>
          <p:cNvSpPr txBox="1"/>
          <p:nvPr/>
        </p:nvSpPr>
        <p:spPr>
          <a:xfrm>
            <a:off x="8857488" y="5349240"/>
            <a:ext cx="2782824" cy="731520"/>
          </a:xfrm>
          <a:prstGeom prst="rect">
            <a:avLst/>
          </a:prstGeom>
          <a:noFill/>
          <a:ln/>
        </p:spPr>
        <p:txBody>
          <a:bodyPr wrap="square" lIns="0" tIns="0" rIns="0" bIns="0" rtlCol="0" anchor="ctr"/>
          <a:lstStyle/>
          <a:p>
            <a:pPr indent="0" marL="0">
              <a:buNone/>
            </a:pPr>
            <a:r>
              <a:rPr lang="en-US" sz="1400" dirty="0">
                <a:solidFill>
                  <a:schemeClr val="tx1"/>
                </a:solidFill>
              </a:rPr>
              <a:t>Area of the force loop = energy lost to the oil (parasitic damping)</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Why the ideal model is not enough</a:t>
            </a:r>
            <a:endParaRPr lang="en-US" sz="3000" dirty="0"/>
          </a:p>
        </p:txBody>
      </p:sp>
      <p:sp>
        <p:nvSpPr>
          <p:cNvPr id="3" name="effect 1"/>
          <p:cNvSpPr/>
          <p:nvPr/>
        </p:nvSpPr>
        <p:spPr>
          <a:xfrm>
            <a:off x="548640" y="1371600"/>
            <a:ext cx="3383280" cy="2286000"/>
          </a:xfrm>
          <a:prstGeom prst="roundRect">
            <a:avLst>
              <a:gd name="adj" fmla="val 3200"/>
            </a:avLst>
          </a:prstGeom>
          <a:solidFill>
            <a:schemeClr val="bg2"/>
          </a:solidFill>
          <a:ln/>
        </p:spPr>
      </p:sp>
      <p:sp>
        <p:nvSpPr>
          <p:cNvPr id="4" name="badge FaSyncAlt"/>
          <p:cNvSpPr/>
          <p:nvPr/>
        </p:nvSpPr>
        <p:spPr>
          <a:xfrm>
            <a:off x="822960" y="1645920"/>
            <a:ext cx="548640" cy="548640"/>
          </a:xfrm>
          <a:prstGeom prst="ellipse">
            <a:avLst/>
          </a:prstGeom>
          <a:solidFill>
            <a:schemeClr val="accent1"/>
          </a:solidFill>
          <a:ln/>
        </p:spPr>
      </p:sp>
      <p:pic>
        <p:nvPicPr>
          <p:cNvPr id="5" name="Image 0" descr="SyncAlt">    </p:cNvPr>
          <p:cNvPicPr>
            <a:picLocks noChangeAspect="1"/>
          </p:cNvPicPr>
          <p:nvPr/>
        </p:nvPicPr>
        <p:blipFill>
          <a:blip r:embed="rId1"/>
          <a:stretch>
            <a:fillRect/>
          </a:stretch>
        </p:blipFill>
        <p:spPr>
          <a:xfrm>
            <a:off x="965606" y="1788566"/>
            <a:ext cx="263347" cy="263347"/>
          </a:xfrm>
          <a:prstGeom prst="rect">
            <a:avLst/>
          </a:prstGeom>
        </p:spPr>
      </p:pic>
      <p:sp>
        <p:nvSpPr>
          <p:cNvPr id="6" name="Text 3"/>
          <p:cNvSpPr txBox="1"/>
          <p:nvPr/>
        </p:nvSpPr>
        <p:spPr>
          <a:xfrm>
            <a:off x="822960" y="2286000"/>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Viscous and curvature losses</a:t>
            </a:r>
            <a:endParaRPr lang="en-US" sz="1600" dirty="0"/>
          </a:p>
        </p:txBody>
      </p:sp>
      <p:sp>
        <p:nvSpPr>
          <p:cNvPr id="7" name="Text 4"/>
          <p:cNvSpPr txBox="1"/>
          <p:nvPr/>
        </p:nvSpPr>
        <p:spPr>
          <a:xfrm>
            <a:off x="822960" y="2670048"/>
            <a:ext cx="2834640" cy="914400"/>
          </a:xfrm>
          <a:prstGeom prst="rect">
            <a:avLst/>
          </a:prstGeom>
          <a:noFill/>
          <a:ln/>
        </p:spPr>
        <p:txBody>
          <a:bodyPr wrap="square" lIns="0" tIns="0" rIns="0" bIns="0" rtlCol="0" anchor="t"/>
          <a:lstStyle/>
          <a:p>
            <a:pPr indent="0" marL="0">
              <a:buNone/>
            </a:pPr>
            <a:r>
              <a:rPr lang="en-US" sz="1400" dirty="0">
                <a:solidFill>
                  <a:schemeClr val="tx2"/>
                </a:solidFill>
              </a:rPr>
              <a:t>Dean vortices in the curved channel raise the pressure drop above straight-pipe values: parasitic damping</a:t>
            </a:r>
            <a:endParaRPr lang="en-US" sz="1400" dirty="0"/>
          </a:p>
        </p:txBody>
      </p:sp>
      <p:sp>
        <p:nvSpPr>
          <p:cNvPr id="8" name="effect 2"/>
          <p:cNvSpPr/>
          <p:nvPr/>
        </p:nvSpPr>
        <p:spPr>
          <a:xfrm>
            <a:off x="4206240" y="1371600"/>
            <a:ext cx="3383280" cy="2286000"/>
          </a:xfrm>
          <a:prstGeom prst="roundRect">
            <a:avLst>
              <a:gd name="adj" fmla="val 3200"/>
            </a:avLst>
          </a:prstGeom>
          <a:solidFill>
            <a:schemeClr val="bg2"/>
          </a:solidFill>
          <a:ln/>
        </p:spPr>
      </p:sp>
      <p:sp>
        <p:nvSpPr>
          <p:cNvPr id="9" name="badge FaWaveSquare"/>
          <p:cNvSpPr/>
          <p:nvPr/>
        </p:nvSpPr>
        <p:spPr>
          <a:xfrm>
            <a:off x="4480560" y="1645920"/>
            <a:ext cx="548640" cy="548640"/>
          </a:xfrm>
          <a:prstGeom prst="ellipse">
            <a:avLst/>
          </a:prstGeom>
          <a:solidFill>
            <a:schemeClr val="accent1"/>
          </a:solidFill>
          <a:ln/>
        </p:spPr>
      </p:sp>
      <p:pic>
        <p:nvPicPr>
          <p:cNvPr id="10" name="Image 1" descr="WaveSquare">    </p:cNvPr>
          <p:cNvPicPr>
            <a:picLocks noChangeAspect="1"/>
          </p:cNvPicPr>
          <p:nvPr/>
        </p:nvPicPr>
        <p:blipFill>
          <a:blip r:embed="rId2"/>
          <a:stretch>
            <a:fillRect/>
          </a:stretch>
        </p:blipFill>
        <p:spPr>
          <a:xfrm>
            <a:off x="4623206" y="1788566"/>
            <a:ext cx="263347" cy="263347"/>
          </a:xfrm>
          <a:prstGeom prst="rect">
            <a:avLst/>
          </a:prstGeom>
        </p:spPr>
      </p:pic>
      <p:sp>
        <p:nvSpPr>
          <p:cNvPr id="11" name="Text 7"/>
          <p:cNvSpPr txBox="1"/>
          <p:nvPr/>
        </p:nvSpPr>
        <p:spPr>
          <a:xfrm>
            <a:off x="4480560" y="2286000"/>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Unsteady flow</a:t>
            </a:r>
            <a:endParaRPr lang="en-US" sz="1600" dirty="0"/>
          </a:p>
        </p:txBody>
      </p:sp>
      <p:sp>
        <p:nvSpPr>
          <p:cNvPr id="12" name="Text 8"/>
          <p:cNvSpPr txBox="1"/>
          <p:nvPr/>
        </p:nvSpPr>
        <p:spPr>
          <a:xfrm>
            <a:off x="4480560" y="2670048"/>
            <a:ext cx="2834640" cy="914400"/>
          </a:xfrm>
          <a:prstGeom prst="rect">
            <a:avLst/>
          </a:prstGeom>
          <a:noFill/>
          <a:ln/>
        </p:spPr>
        <p:txBody>
          <a:bodyPr wrap="square" lIns="0" tIns="0" rIns="0" bIns="0" rtlCol="0" anchor="t"/>
          <a:lstStyle/>
          <a:p>
            <a:pPr indent="0" marL="0">
              <a:buNone/>
            </a:pPr>
            <a:r>
              <a:rPr lang="en-US" sz="1400" dirty="0">
                <a:solidFill>
                  <a:schemeClr val="tx2"/>
                </a:solidFill>
              </a:rPr>
              <a:t>With Womersley number above about 1 the velocity profile changes with frequency, so b and c do too</a:t>
            </a:r>
            <a:endParaRPr lang="en-US" sz="1400" dirty="0"/>
          </a:p>
        </p:txBody>
      </p:sp>
      <p:sp>
        <p:nvSpPr>
          <p:cNvPr id="13" name="effect 3"/>
          <p:cNvSpPr/>
          <p:nvPr/>
        </p:nvSpPr>
        <p:spPr>
          <a:xfrm>
            <a:off x="548640" y="3931920"/>
            <a:ext cx="3383280" cy="2286000"/>
          </a:xfrm>
          <a:prstGeom prst="roundRect">
            <a:avLst>
              <a:gd name="adj" fmla="val 3200"/>
            </a:avLst>
          </a:prstGeom>
          <a:solidFill>
            <a:schemeClr val="bg2"/>
          </a:solidFill>
          <a:ln/>
        </p:spPr>
      </p:sp>
      <p:sp>
        <p:nvSpPr>
          <p:cNvPr id="14" name="badge FaDoorOpen"/>
          <p:cNvSpPr/>
          <p:nvPr/>
        </p:nvSpPr>
        <p:spPr>
          <a:xfrm>
            <a:off x="822960" y="4206240"/>
            <a:ext cx="548640" cy="548640"/>
          </a:xfrm>
          <a:prstGeom prst="ellipse">
            <a:avLst/>
          </a:prstGeom>
          <a:solidFill>
            <a:schemeClr val="accent1"/>
          </a:solidFill>
          <a:ln/>
        </p:spPr>
      </p:sp>
      <p:pic>
        <p:nvPicPr>
          <p:cNvPr id="15" name="Image 2" descr="DoorOpen">    </p:cNvPr>
          <p:cNvPicPr>
            <a:picLocks noChangeAspect="1"/>
          </p:cNvPicPr>
          <p:nvPr/>
        </p:nvPicPr>
        <p:blipFill>
          <a:blip r:embed="rId3"/>
          <a:stretch>
            <a:fillRect/>
          </a:stretch>
        </p:blipFill>
        <p:spPr>
          <a:xfrm>
            <a:off x="965606" y="4348886"/>
            <a:ext cx="263347" cy="263347"/>
          </a:xfrm>
          <a:prstGeom prst="rect">
            <a:avLst/>
          </a:prstGeom>
        </p:spPr>
      </p:pic>
      <p:sp>
        <p:nvSpPr>
          <p:cNvPr id="16" name="Text 11"/>
          <p:cNvSpPr txBox="1"/>
          <p:nvPr/>
        </p:nvSpPr>
        <p:spPr>
          <a:xfrm>
            <a:off x="822960" y="4846320"/>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Entry and exit losses</a:t>
            </a:r>
            <a:endParaRPr lang="en-US" sz="1600" dirty="0"/>
          </a:p>
        </p:txBody>
      </p:sp>
      <p:sp>
        <p:nvSpPr>
          <p:cNvPr id="17" name="Text 12"/>
          <p:cNvSpPr txBox="1"/>
          <p:nvPr/>
        </p:nvSpPr>
        <p:spPr>
          <a:xfrm>
            <a:off x="822960" y="5230368"/>
            <a:ext cx="2834640" cy="914400"/>
          </a:xfrm>
          <a:prstGeom prst="rect">
            <a:avLst/>
          </a:prstGeom>
          <a:noFill/>
          <a:ln/>
        </p:spPr>
        <p:txBody>
          <a:bodyPr wrap="square" lIns="0" tIns="0" rIns="0" bIns="0" rtlCol="0" anchor="t"/>
          <a:lstStyle/>
          <a:p>
            <a:pPr indent="0" marL="0">
              <a:buNone/>
            </a:pPr>
            <a:r>
              <a:rPr lang="en-US" sz="1400" dirty="0">
                <a:solidFill>
                  <a:schemeClr val="tx2"/>
                </a:solidFill>
              </a:rPr>
              <a:t>Sharp ports at the piston chambers and channel junctions waste kinetic energy</a:t>
            </a:r>
            <a:endParaRPr lang="en-US" sz="1400" dirty="0"/>
          </a:p>
        </p:txBody>
      </p:sp>
      <p:sp>
        <p:nvSpPr>
          <p:cNvPr id="18" name="effect 4"/>
          <p:cNvSpPr/>
          <p:nvPr/>
        </p:nvSpPr>
        <p:spPr>
          <a:xfrm>
            <a:off x="4206240" y="3931920"/>
            <a:ext cx="3383280" cy="2286000"/>
          </a:xfrm>
          <a:prstGeom prst="roundRect">
            <a:avLst>
              <a:gd name="adj" fmla="val 3200"/>
            </a:avLst>
          </a:prstGeom>
          <a:solidFill>
            <a:schemeClr val="bg2"/>
          </a:solidFill>
          <a:ln/>
        </p:spPr>
      </p:sp>
      <p:sp>
        <p:nvSpPr>
          <p:cNvPr id="19" name="badge FaTint"/>
          <p:cNvSpPr/>
          <p:nvPr/>
        </p:nvSpPr>
        <p:spPr>
          <a:xfrm>
            <a:off x="4480560" y="4206240"/>
            <a:ext cx="548640" cy="548640"/>
          </a:xfrm>
          <a:prstGeom prst="ellipse">
            <a:avLst/>
          </a:prstGeom>
          <a:solidFill>
            <a:schemeClr val="accent1"/>
          </a:solidFill>
          <a:ln/>
        </p:spPr>
      </p:sp>
      <p:pic>
        <p:nvPicPr>
          <p:cNvPr id="20" name="Image 3" descr="Tint">    </p:cNvPr>
          <p:cNvPicPr>
            <a:picLocks noChangeAspect="1"/>
          </p:cNvPicPr>
          <p:nvPr/>
        </p:nvPicPr>
        <p:blipFill>
          <a:blip r:embed="rId4"/>
          <a:stretch>
            <a:fillRect/>
          </a:stretch>
        </p:blipFill>
        <p:spPr>
          <a:xfrm>
            <a:off x="4623206" y="4348886"/>
            <a:ext cx="263347" cy="263347"/>
          </a:xfrm>
          <a:prstGeom prst="rect">
            <a:avLst/>
          </a:prstGeom>
        </p:spPr>
      </p:pic>
      <p:sp>
        <p:nvSpPr>
          <p:cNvPr id="21" name="Text 15"/>
          <p:cNvSpPr txBox="1"/>
          <p:nvPr/>
        </p:nvSpPr>
        <p:spPr>
          <a:xfrm>
            <a:off x="4480560" y="4846320"/>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Cavitation</a:t>
            </a:r>
            <a:endParaRPr lang="en-US" sz="1600" dirty="0"/>
          </a:p>
        </p:txBody>
      </p:sp>
      <p:sp>
        <p:nvSpPr>
          <p:cNvPr id="22" name="Text 16"/>
          <p:cNvSpPr txBox="1"/>
          <p:nvPr/>
        </p:nvSpPr>
        <p:spPr>
          <a:xfrm>
            <a:off x="4480560" y="5230368"/>
            <a:ext cx="2834640" cy="914400"/>
          </a:xfrm>
          <a:prstGeom prst="rect">
            <a:avLst/>
          </a:prstGeom>
          <a:noFill/>
          <a:ln/>
        </p:spPr>
        <p:txBody>
          <a:bodyPr wrap="square" lIns="0" tIns="0" rIns="0" bIns="0" rtlCol="0" anchor="t"/>
          <a:lstStyle/>
          <a:p>
            <a:pPr indent="0" marL="0">
              <a:buNone/>
            </a:pPr>
            <a:r>
              <a:rPr lang="en-US" sz="1400" dirty="0">
                <a:solidFill>
                  <a:schemeClr val="tx2"/>
                </a:solidFill>
              </a:rPr>
              <a:t>Large inertial pressures can drop the chamber pressure below the oil's vapour pressure</a:t>
            </a:r>
            <a:endParaRPr lang="en-US" sz="1400" dirty="0"/>
          </a:p>
        </p:txBody>
      </p:sp>
      <p:sp>
        <p:nvSpPr>
          <p:cNvPr id="23" name="research question card"/>
          <p:cNvSpPr/>
          <p:nvPr/>
        </p:nvSpPr>
        <p:spPr>
          <a:xfrm>
            <a:off x="7863840" y="1371600"/>
            <a:ext cx="3776472" cy="4846320"/>
          </a:xfrm>
          <a:prstGeom prst="roundRect">
            <a:avLst>
              <a:gd name="adj" fmla="val 1937"/>
            </a:avLst>
          </a:prstGeom>
          <a:solidFill>
            <a:schemeClr val="tx1"/>
          </a:solidFill>
          <a:ln/>
        </p:spPr>
      </p:sp>
      <p:sp>
        <p:nvSpPr>
          <p:cNvPr id="24" name="badge FaLightbulb"/>
          <p:cNvSpPr/>
          <p:nvPr/>
        </p:nvSpPr>
        <p:spPr>
          <a:xfrm>
            <a:off x="8183880" y="1691640"/>
            <a:ext cx="640080" cy="640080"/>
          </a:xfrm>
          <a:prstGeom prst="ellipse">
            <a:avLst/>
          </a:prstGeom>
          <a:solidFill>
            <a:schemeClr val="accent1"/>
          </a:solidFill>
          <a:ln/>
        </p:spPr>
      </p:sp>
      <p:pic>
        <p:nvPicPr>
          <p:cNvPr id="25" name="Image 4" descr="Lightbulb">    </p:cNvPr>
          <p:cNvPicPr>
            <a:picLocks noChangeAspect="1"/>
          </p:cNvPicPr>
          <p:nvPr/>
        </p:nvPicPr>
        <p:blipFill>
          <a:blip r:embed="rId5"/>
          <a:stretch>
            <a:fillRect/>
          </a:stretch>
        </p:blipFill>
        <p:spPr>
          <a:xfrm>
            <a:off x="8350301" y="1858061"/>
            <a:ext cx="307238" cy="307238"/>
          </a:xfrm>
          <a:prstGeom prst="rect">
            <a:avLst/>
          </a:prstGeom>
        </p:spPr>
      </p:pic>
      <p:sp>
        <p:nvSpPr>
          <p:cNvPr id="26" name="Text 19"/>
          <p:cNvSpPr txBox="1"/>
          <p:nvPr/>
        </p:nvSpPr>
        <p:spPr>
          <a:xfrm>
            <a:off x="8183880" y="2560320"/>
            <a:ext cx="3200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RESEARCH QUESTION</a:t>
            </a:r>
            <a:endParaRPr lang="en-US" sz="1200" dirty="0"/>
          </a:p>
        </p:txBody>
      </p:sp>
      <p:sp>
        <p:nvSpPr>
          <p:cNvPr id="27" name="Text 20"/>
          <p:cNvSpPr txBox="1"/>
          <p:nvPr/>
        </p:nvSpPr>
        <p:spPr>
          <a:xfrm>
            <a:off x="8183880" y="2926080"/>
            <a:ext cx="3154680" cy="3017520"/>
          </a:xfrm>
          <a:prstGeom prst="rect">
            <a:avLst/>
          </a:prstGeom>
          <a:noFill/>
          <a:ln/>
        </p:spPr>
        <p:txBody>
          <a:bodyPr wrap="square" lIns="0" tIns="0" rIns="0" bIns="0" rtlCol="0" anchor="t"/>
          <a:lstStyle/>
          <a:p>
            <a:pPr indent="0" marL="0">
              <a:buNone/>
            </a:pPr>
            <a:r>
              <a:rPr lang="en-US" sz="1800" dirty="0">
                <a:solidFill>
                  <a:schemeClr val="bg1"/>
                </a:solidFill>
              </a:rPr>
              <a:t>How far does a real fluid inerter depart from the ideal model, and how much of the theoretical grip benefit to a race car survives once these effects are included?</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Method: CFD as a virtual test rig</a:t>
            </a:r>
            <a:endParaRPr lang="en-US" sz="3000" dirty="0"/>
          </a:p>
        </p:txBody>
      </p:sp>
      <p:sp>
        <p:nvSpPr>
          <p:cNvPr id="3" name="step 1"/>
          <p:cNvSpPr/>
          <p:nvPr/>
        </p:nvSpPr>
        <p:spPr>
          <a:xfrm>
            <a:off x="548640" y="1371600"/>
            <a:ext cx="1925726" cy="3291840"/>
          </a:xfrm>
          <a:prstGeom prst="roundRect">
            <a:avLst>
              <a:gd name="adj" fmla="val 3799"/>
            </a:avLst>
          </a:prstGeom>
          <a:solidFill>
            <a:schemeClr val="bg2"/>
          </a:solidFill>
          <a:ln/>
        </p:spPr>
      </p:sp>
      <p:sp>
        <p:nvSpPr>
          <p:cNvPr id="4" name="badge FaCube"/>
          <p:cNvSpPr/>
          <p:nvPr/>
        </p:nvSpPr>
        <p:spPr>
          <a:xfrm>
            <a:off x="777240" y="1645920"/>
            <a:ext cx="640080" cy="640080"/>
          </a:xfrm>
          <a:prstGeom prst="ellipse">
            <a:avLst/>
          </a:prstGeom>
          <a:solidFill>
            <a:schemeClr val="accent1"/>
          </a:solidFill>
          <a:ln/>
        </p:spPr>
      </p:sp>
      <p:pic>
        <p:nvPicPr>
          <p:cNvPr id="5" name="Image 0" descr="Cube">    </p:cNvPr>
          <p:cNvPicPr>
            <a:picLocks noChangeAspect="1"/>
          </p:cNvPicPr>
          <p:nvPr/>
        </p:nvPicPr>
        <p:blipFill>
          <a:blip r:embed="rId1"/>
          <a:stretch>
            <a:fillRect/>
          </a:stretch>
        </p:blipFill>
        <p:spPr>
          <a:xfrm>
            <a:off x="943661" y="1812341"/>
            <a:ext cx="307238" cy="307238"/>
          </a:xfrm>
          <a:prstGeom prst="rect">
            <a:avLst/>
          </a:prstGeom>
        </p:spPr>
      </p:pic>
      <p:sp>
        <p:nvSpPr>
          <p:cNvPr id="6" name="Text 3"/>
          <p:cNvSpPr txBox="1"/>
          <p:nvPr/>
        </p:nvSpPr>
        <p:spPr>
          <a:xfrm>
            <a:off x="777240" y="2468880"/>
            <a:ext cx="1468526"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STEP 1</a:t>
            </a:r>
            <a:endParaRPr lang="en-US" sz="1100" dirty="0"/>
          </a:p>
        </p:txBody>
      </p:sp>
      <p:sp>
        <p:nvSpPr>
          <p:cNvPr id="7" name="Text 4"/>
          <p:cNvSpPr txBox="1"/>
          <p:nvPr/>
        </p:nvSpPr>
        <p:spPr>
          <a:xfrm>
            <a:off x="777240" y="2743200"/>
            <a:ext cx="1468526" cy="365760"/>
          </a:xfrm>
          <a:prstGeom prst="rect">
            <a:avLst/>
          </a:prstGeom>
          <a:noFill/>
          <a:ln/>
        </p:spPr>
        <p:txBody>
          <a:bodyPr wrap="square" lIns="0" tIns="0" rIns="0" bIns="0" rtlCol="0" anchor="ctr"/>
          <a:lstStyle/>
          <a:p>
            <a:pPr indent="0" marL="0">
              <a:buNone/>
            </a:pPr>
            <a:r>
              <a:rPr lang="en-US" sz="1800" b="1" dirty="0">
                <a:solidFill>
                  <a:schemeClr val="tx1"/>
                </a:solidFill>
              </a:rPr>
              <a:t>Mesh</a:t>
            </a:r>
            <a:endParaRPr lang="en-US" sz="1800" dirty="0"/>
          </a:p>
        </p:txBody>
      </p:sp>
      <p:sp>
        <p:nvSpPr>
          <p:cNvPr id="8" name="Text 5"/>
          <p:cNvSpPr txBox="1"/>
          <p:nvPr/>
        </p:nvSpPr>
        <p:spPr>
          <a:xfrm>
            <a:off x="777240" y="3154680"/>
            <a:ext cx="1468526" cy="1417320"/>
          </a:xfrm>
          <a:prstGeom prst="rect">
            <a:avLst/>
          </a:prstGeom>
          <a:noFill/>
          <a:ln/>
        </p:spPr>
        <p:txBody>
          <a:bodyPr wrap="square" lIns="0" tIns="0" rIns="0" bIns="0" rtlCol="0" anchor="t"/>
          <a:lstStyle/>
          <a:p>
            <a:pPr indent="0" marL="0">
              <a:buNone/>
            </a:pPr>
            <a:r>
              <a:rPr lang="en-US" sz="1400" dirty="0">
                <a:solidFill>
                  <a:schemeClr val="tx2"/>
                </a:solidFill>
              </a:rPr>
              <a:t>Own structured O-grid hex mesh generator in Python (0.16–0.90 M cells)</a:t>
            </a:r>
            <a:endParaRPr lang="en-US" sz="1400" dirty="0"/>
          </a:p>
        </p:txBody>
      </p:sp>
      <p:pic>
        <p:nvPicPr>
          <p:cNvPr id="9" name="Image 1" descr="next step">    </p:cNvPr>
          <p:cNvPicPr>
            <a:picLocks noChangeAspect="1"/>
          </p:cNvPicPr>
          <p:nvPr/>
        </p:nvPicPr>
        <p:blipFill>
          <a:blip r:embed="rId2"/>
          <a:stretch>
            <a:fillRect/>
          </a:stretch>
        </p:blipFill>
        <p:spPr>
          <a:xfrm>
            <a:off x="2547518" y="2880360"/>
            <a:ext cx="219456" cy="274320"/>
          </a:xfrm>
          <a:prstGeom prst="rect">
            <a:avLst/>
          </a:prstGeom>
        </p:spPr>
      </p:pic>
      <p:sp>
        <p:nvSpPr>
          <p:cNvPr id="10" name="step 2"/>
          <p:cNvSpPr/>
          <p:nvPr/>
        </p:nvSpPr>
        <p:spPr>
          <a:xfrm>
            <a:off x="2840126" y="1371600"/>
            <a:ext cx="1925726" cy="3291840"/>
          </a:xfrm>
          <a:prstGeom prst="roundRect">
            <a:avLst>
              <a:gd name="adj" fmla="val 3799"/>
            </a:avLst>
          </a:prstGeom>
          <a:solidFill>
            <a:schemeClr val="bg2"/>
          </a:solidFill>
          <a:ln/>
        </p:spPr>
      </p:sp>
      <p:sp>
        <p:nvSpPr>
          <p:cNvPr id="11" name="badge FaCheckDouble"/>
          <p:cNvSpPr/>
          <p:nvPr/>
        </p:nvSpPr>
        <p:spPr>
          <a:xfrm>
            <a:off x="3068726" y="1645920"/>
            <a:ext cx="640080" cy="640080"/>
          </a:xfrm>
          <a:prstGeom prst="ellipse">
            <a:avLst/>
          </a:prstGeom>
          <a:solidFill>
            <a:schemeClr val="accent1"/>
          </a:solidFill>
          <a:ln/>
        </p:spPr>
      </p:sp>
      <p:pic>
        <p:nvPicPr>
          <p:cNvPr id="12" name="Image 2" descr="CheckDouble">    </p:cNvPr>
          <p:cNvPicPr>
            <a:picLocks noChangeAspect="1"/>
          </p:cNvPicPr>
          <p:nvPr/>
        </p:nvPicPr>
        <p:blipFill>
          <a:blip r:embed="rId3"/>
          <a:stretch>
            <a:fillRect/>
          </a:stretch>
        </p:blipFill>
        <p:spPr>
          <a:xfrm>
            <a:off x="3235147" y="1812341"/>
            <a:ext cx="307238" cy="307238"/>
          </a:xfrm>
          <a:prstGeom prst="rect">
            <a:avLst/>
          </a:prstGeom>
        </p:spPr>
      </p:pic>
      <p:sp>
        <p:nvSpPr>
          <p:cNvPr id="13" name="Text 8"/>
          <p:cNvSpPr txBox="1"/>
          <p:nvPr/>
        </p:nvSpPr>
        <p:spPr>
          <a:xfrm>
            <a:off x="3068726" y="2468880"/>
            <a:ext cx="1468526"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STEP 2</a:t>
            </a:r>
            <a:endParaRPr lang="en-US" sz="1100" dirty="0"/>
          </a:p>
        </p:txBody>
      </p:sp>
      <p:sp>
        <p:nvSpPr>
          <p:cNvPr id="14" name="Text 9"/>
          <p:cNvSpPr txBox="1"/>
          <p:nvPr/>
        </p:nvSpPr>
        <p:spPr>
          <a:xfrm>
            <a:off x="3068726" y="2743200"/>
            <a:ext cx="1468526" cy="365760"/>
          </a:xfrm>
          <a:prstGeom prst="rect">
            <a:avLst/>
          </a:prstGeom>
          <a:noFill/>
          <a:ln/>
        </p:spPr>
        <p:txBody>
          <a:bodyPr wrap="square" lIns="0" tIns="0" rIns="0" bIns="0" rtlCol="0" anchor="ctr"/>
          <a:lstStyle/>
          <a:p>
            <a:pPr indent="0" marL="0">
              <a:buNone/>
            </a:pPr>
            <a:r>
              <a:rPr lang="en-US" sz="1800" b="1" dirty="0">
                <a:solidFill>
                  <a:schemeClr val="tx1"/>
                </a:solidFill>
              </a:rPr>
              <a:t>Validate</a:t>
            </a:r>
            <a:endParaRPr lang="en-US" sz="1800" dirty="0"/>
          </a:p>
        </p:txBody>
      </p:sp>
      <p:sp>
        <p:nvSpPr>
          <p:cNvPr id="15" name="Text 10"/>
          <p:cNvSpPr txBox="1"/>
          <p:nvPr/>
        </p:nvSpPr>
        <p:spPr>
          <a:xfrm>
            <a:off x="3068726" y="3154680"/>
            <a:ext cx="1468526" cy="1417320"/>
          </a:xfrm>
          <a:prstGeom prst="rect">
            <a:avLst/>
          </a:prstGeom>
          <a:noFill/>
          <a:ln/>
        </p:spPr>
        <p:txBody>
          <a:bodyPr wrap="square" lIns="0" tIns="0" rIns="0" bIns="0" rtlCol="0" anchor="t"/>
          <a:lstStyle/>
          <a:p>
            <a:pPr indent="0" marL="0">
              <a:buNone/>
            </a:pPr>
            <a:r>
              <a:rPr lang="en-US" sz="1400" dirty="0">
                <a:solidFill>
                  <a:schemeClr val="tx2"/>
                </a:solidFill>
              </a:rPr>
              <a:t>Steady full-helix CFD vs the Ito and White correlations, plus a GCI mesh study</a:t>
            </a:r>
            <a:endParaRPr lang="en-US" sz="1400" dirty="0"/>
          </a:p>
        </p:txBody>
      </p:sp>
      <p:pic>
        <p:nvPicPr>
          <p:cNvPr id="16" name="Image 3" descr="next step">    </p:cNvPr>
          <p:cNvPicPr>
            <a:picLocks noChangeAspect="1"/>
          </p:cNvPicPr>
          <p:nvPr/>
        </p:nvPicPr>
        <p:blipFill>
          <a:blip r:embed="rId4"/>
          <a:stretch>
            <a:fillRect/>
          </a:stretch>
        </p:blipFill>
        <p:spPr>
          <a:xfrm>
            <a:off x="4839005" y="2880360"/>
            <a:ext cx="219456" cy="274320"/>
          </a:xfrm>
          <a:prstGeom prst="rect">
            <a:avLst/>
          </a:prstGeom>
        </p:spPr>
      </p:pic>
      <p:sp>
        <p:nvSpPr>
          <p:cNvPr id="17" name="step 3"/>
          <p:cNvSpPr/>
          <p:nvPr/>
        </p:nvSpPr>
        <p:spPr>
          <a:xfrm>
            <a:off x="5131613" y="1371600"/>
            <a:ext cx="1925726" cy="3291840"/>
          </a:xfrm>
          <a:prstGeom prst="roundRect">
            <a:avLst>
              <a:gd name="adj" fmla="val 3799"/>
            </a:avLst>
          </a:prstGeom>
          <a:solidFill>
            <a:schemeClr val="bg2"/>
          </a:solidFill>
          <a:ln/>
        </p:spPr>
      </p:sp>
      <p:sp>
        <p:nvSpPr>
          <p:cNvPr id="18" name="badge FaWaveSquare"/>
          <p:cNvSpPr/>
          <p:nvPr/>
        </p:nvSpPr>
        <p:spPr>
          <a:xfrm>
            <a:off x="5360213" y="1645920"/>
            <a:ext cx="640080" cy="640080"/>
          </a:xfrm>
          <a:prstGeom prst="ellipse">
            <a:avLst/>
          </a:prstGeom>
          <a:solidFill>
            <a:schemeClr val="accent1"/>
          </a:solidFill>
          <a:ln/>
        </p:spPr>
      </p:sp>
      <p:pic>
        <p:nvPicPr>
          <p:cNvPr id="19" name="Image 4" descr="WaveSquare">    </p:cNvPr>
          <p:cNvPicPr>
            <a:picLocks noChangeAspect="1"/>
          </p:cNvPicPr>
          <p:nvPr/>
        </p:nvPicPr>
        <p:blipFill>
          <a:blip r:embed="rId5"/>
          <a:stretch>
            <a:fillRect/>
          </a:stretch>
        </p:blipFill>
        <p:spPr>
          <a:xfrm>
            <a:off x="5526634" y="1812341"/>
            <a:ext cx="307238" cy="307238"/>
          </a:xfrm>
          <a:prstGeom prst="rect">
            <a:avLst/>
          </a:prstGeom>
        </p:spPr>
      </p:pic>
      <p:sp>
        <p:nvSpPr>
          <p:cNvPr id="20" name="Text 13"/>
          <p:cNvSpPr txBox="1"/>
          <p:nvPr/>
        </p:nvSpPr>
        <p:spPr>
          <a:xfrm>
            <a:off x="5360213" y="2468880"/>
            <a:ext cx="1468526"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STEP 3</a:t>
            </a:r>
            <a:endParaRPr lang="en-US" sz="1100" dirty="0"/>
          </a:p>
        </p:txBody>
      </p:sp>
      <p:sp>
        <p:nvSpPr>
          <p:cNvPr id="21" name="Text 14"/>
          <p:cNvSpPr txBox="1"/>
          <p:nvPr/>
        </p:nvSpPr>
        <p:spPr>
          <a:xfrm>
            <a:off x="5360213" y="2743200"/>
            <a:ext cx="1468526" cy="365760"/>
          </a:xfrm>
          <a:prstGeom prst="rect">
            <a:avLst/>
          </a:prstGeom>
          <a:noFill/>
          <a:ln/>
        </p:spPr>
        <p:txBody>
          <a:bodyPr wrap="square" lIns="0" tIns="0" rIns="0" bIns="0" rtlCol="0" anchor="ctr"/>
          <a:lstStyle/>
          <a:p>
            <a:pPr indent="0" marL="0">
              <a:buNone/>
            </a:pPr>
            <a:r>
              <a:rPr lang="en-US" sz="1800" b="1" dirty="0">
                <a:solidFill>
                  <a:schemeClr val="tx1"/>
                </a:solidFill>
              </a:rPr>
              <a:t>Oscillate</a:t>
            </a:r>
            <a:endParaRPr lang="en-US" sz="1800" dirty="0"/>
          </a:p>
        </p:txBody>
      </p:sp>
      <p:sp>
        <p:nvSpPr>
          <p:cNvPr id="22" name="Text 15"/>
          <p:cNvSpPr txBox="1"/>
          <p:nvPr/>
        </p:nvSpPr>
        <p:spPr>
          <a:xfrm>
            <a:off x="5360213" y="3154680"/>
            <a:ext cx="1468526" cy="1417320"/>
          </a:xfrm>
          <a:prstGeom prst="rect">
            <a:avLst/>
          </a:prstGeom>
          <a:noFill/>
          <a:ln/>
        </p:spPr>
        <p:txBody>
          <a:bodyPr wrap="square" lIns="0" tIns="0" rIns="0" bIns="0" rtlCol="0" anchor="t"/>
          <a:lstStyle/>
          <a:p>
            <a:pPr indent="0" marL="0">
              <a:buNone/>
            </a:pPr>
            <a:r>
              <a:rPr lang="en-US" sz="1400" dirty="0">
                <a:solidFill>
                  <a:schemeClr val="tx2"/>
                </a:solidFill>
              </a:rPr>
              <a:t>Periodic torus sector at 1–20 Hz, 2 and 5 mm stroke (pimpleFoam)</a:t>
            </a:r>
            <a:endParaRPr lang="en-US" sz="1400" dirty="0"/>
          </a:p>
        </p:txBody>
      </p:sp>
      <p:pic>
        <p:nvPicPr>
          <p:cNvPr id="23" name="Image 5" descr="next step">    </p:cNvPr>
          <p:cNvPicPr>
            <a:picLocks noChangeAspect="1"/>
          </p:cNvPicPr>
          <p:nvPr/>
        </p:nvPicPr>
        <p:blipFill>
          <a:blip r:embed="rId6"/>
          <a:stretch>
            <a:fillRect/>
          </a:stretch>
        </p:blipFill>
        <p:spPr>
          <a:xfrm>
            <a:off x="7130491" y="2880360"/>
            <a:ext cx="219456" cy="274320"/>
          </a:xfrm>
          <a:prstGeom prst="rect">
            <a:avLst/>
          </a:prstGeom>
        </p:spPr>
      </p:pic>
      <p:sp>
        <p:nvSpPr>
          <p:cNvPr id="24" name="step 4"/>
          <p:cNvSpPr/>
          <p:nvPr/>
        </p:nvSpPr>
        <p:spPr>
          <a:xfrm>
            <a:off x="7423099" y="1371600"/>
            <a:ext cx="1925726" cy="3291840"/>
          </a:xfrm>
          <a:prstGeom prst="roundRect">
            <a:avLst>
              <a:gd name="adj" fmla="val 3799"/>
            </a:avLst>
          </a:prstGeom>
          <a:solidFill>
            <a:schemeClr val="bg2"/>
          </a:solidFill>
          <a:ln/>
        </p:spPr>
      </p:sp>
      <p:sp>
        <p:nvSpPr>
          <p:cNvPr id="25" name="badge FaSquareRootAlt"/>
          <p:cNvSpPr/>
          <p:nvPr/>
        </p:nvSpPr>
        <p:spPr>
          <a:xfrm>
            <a:off x="7651699" y="1645920"/>
            <a:ext cx="640080" cy="640080"/>
          </a:xfrm>
          <a:prstGeom prst="ellipse">
            <a:avLst/>
          </a:prstGeom>
          <a:solidFill>
            <a:schemeClr val="accent1"/>
          </a:solidFill>
          <a:ln/>
        </p:spPr>
      </p:sp>
      <p:pic>
        <p:nvPicPr>
          <p:cNvPr id="26" name="Image 6" descr="SquareRootAlt">    </p:cNvPr>
          <p:cNvPicPr>
            <a:picLocks noChangeAspect="1"/>
          </p:cNvPicPr>
          <p:nvPr/>
        </p:nvPicPr>
        <p:blipFill>
          <a:blip r:embed="rId7"/>
          <a:stretch>
            <a:fillRect/>
          </a:stretch>
        </p:blipFill>
        <p:spPr>
          <a:xfrm>
            <a:off x="7818120" y="1812341"/>
            <a:ext cx="307238" cy="307238"/>
          </a:xfrm>
          <a:prstGeom prst="rect">
            <a:avLst/>
          </a:prstGeom>
        </p:spPr>
      </p:pic>
      <p:sp>
        <p:nvSpPr>
          <p:cNvPr id="27" name="Text 18"/>
          <p:cNvSpPr txBox="1"/>
          <p:nvPr/>
        </p:nvSpPr>
        <p:spPr>
          <a:xfrm>
            <a:off x="7651699" y="2468880"/>
            <a:ext cx="1468526"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STEP 4</a:t>
            </a:r>
            <a:endParaRPr lang="en-US" sz="1100" dirty="0"/>
          </a:p>
        </p:txBody>
      </p:sp>
      <p:sp>
        <p:nvSpPr>
          <p:cNvPr id="28" name="Text 19"/>
          <p:cNvSpPr txBox="1"/>
          <p:nvPr/>
        </p:nvSpPr>
        <p:spPr>
          <a:xfrm>
            <a:off x="7651699" y="2743200"/>
            <a:ext cx="1468526" cy="365760"/>
          </a:xfrm>
          <a:prstGeom prst="rect">
            <a:avLst/>
          </a:prstGeom>
          <a:noFill/>
          <a:ln/>
        </p:spPr>
        <p:txBody>
          <a:bodyPr wrap="square" lIns="0" tIns="0" rIns="0" bIns="0" rtlCol="0" anchor="ctr"/>
          <a:lstStyle/>
          <a:p>
            <a:pPr indent="0" marL="0">
              <a:buNone/>
            </a:pPr>
            <a:r>
              <a:rPr lang="en-US" sz="1800" b="1" dirty="0">
                <a:solidFill>
                  <a:schemeClr val="tx1"/>
                </a:solidFill>
              </a:rPr>
              <a:t>Reduce</a:t>
            </a:r>
            <a:endParaRPr lang="en-US" sz="1800" dirty="0"/>
          </a:p>
        </p:txBody>
      </p:sp>
      <p:sp>
        <p:nvSpPr>
          <p:cNvPr id="29" name="Text 20"/>
          <p:cNvSpPr txBox="1"/>
          <p:nvPr/>
        </p:nvSpPr>
        <p:spPr>
          <a:xfrm>
            <a:off x="7651699" y="3154680"/>
            <a:ext cx="1468526" cy="1417320"/>
          </a:xfrm>
          <a:prstGeom prst="rect">
            <a:avLst/>
          </a:prstGeom>
          <a:noFill/>
          <a:ln/>
        </p:spPr>
        <p:txBody>
          <a:bodyPr wrap="square" lIns="0" tIns="0" rIns="0" bIns="0" rtlCol="0" anchor="t"/>
          <a:lstStyle/>
          <a:p>
            <a:pPr indent="0" marL="0">
              <a:buNone/>
            </a:pPr>
            <a:r>
              <a:rPr lang="en-US" sz="1400" dirty="0">
                <a:solidFill>
                  <a:schemeClr val="tx2"/>
                </a:solidFill>
              </a:rPr>
              <a:t>Fit b(ω), c(ω) and a reduced-order force model</a:t>
            </a:r>
            <a:endParaRPr lang="en-US" sz="1400" dirty="0"/>
          </a:p>
        </p:txBody>
      </p:sp>
      <p:pic>
        <p:nvPicPr>
          <p:cNvPr id="30" name="Image 7" descr="next step">    </p:cNvPr>
          <p:cNvPicPr>
            <a:picLocks noChangeAspect="1"/>
          </p:cNvPicPr>
          <p:nvPr/>
        </p:nvPicPr>
        <p:blipFill>
          <a:blip r:embed="rId8"/>
          <a:stretch>
            <a:fillRect/>
          </a:stretch>
        </p:blipFill>
        <p:spPr>
          <a:xfrm>
            <a:off x="9421978" y="2880360"/>
            <a:ext cx="219456" cy="274320"/>
          </a:xfrm>
          <a:prstGeom prst="rect">
            <a:avLst/>
          </a:prstGeom>
        </p:spPr>
      </p:pic>
      <p:sp>
        <p:nvSpPr>
          <p:cNvPr id="31" name="step 5"/>
          <p:cNvSpPr/>
          <p:nvPr/>
        </p:nvSpPr>
        <p:spPr>
          <a:xfrm>
            <a:off x="9714586" y="1371600"/>
            <a:ext cx="1925726" cy="3291840"/>
          </a:xfrm>
          <a:prstGeom prst="roundRect">
            <a:avLst>
              <a:gd name="adj" fmla="val 3799"/>
            </a:avLst>
          </a:prstGeom>
          <a:solidFill>
            <a:schemeClr val="bg2"/>
          </a:solidFill>
          <a:ln/>
        </p:spPr>
      </p:sp>
      <p:sp>
        <p:nvSpPr>
          <p:cNvPr id="32" name="badge FaCarSide"/>
          <p:cNvSpPr/>
          <p:nvPr/>
        </p:nvSpPr>
        <p:spPr>
          <a:xfrm>
            <a:off x="9943186" y="1645920"/>
            <a:ext cx="640080" cy="640080"/>
          </a:xfrm>
          <a:prstGeom prst="ellipse">
            <a:avLst/>
          </a:prstGeom>
          <a:solidFill>
            <a:schemeClr val="accent1"/>
          </a:solidFill>
          <a:ln/>
        </p:spPr>
      </p:sp>
      <p:pic>
        <p:nvPicPr>
          <p:cNvPr id="33" name="Image 8" descr="CarSide">    </p:cNvPr>
          <p:cNvPicPr>
            <a:picLocks noChangeAspect="1"/>
          </p:cNvPicPr>
          <p:nvPr/>
        </p:nvPicPr>
        <p:blipFill>
          <a:blip r:embed="rId9"/>
          <a:stretch>
            <a:fillRect/>
          </a:stretch>
        </p:blipFill>
        <p:spPr>
          <a:xfrm>
            <a:off x="10109606" y="1812341"/>
            <a:ext cx="307238" cy="307238"/>
          </a:xfrm>
          <a:prstGeom prst="rect">
            <a:avLst/>
          </a:prstGeom>
        </p:spPr>
      </p:pic>
      <p:sp>
        <p:nvSpPr>
          <p:cNvPr id="34" name="Text 23"/>
          <p:cNvSpPr txBox="1"/>
          <p:nvPr/>
        </p:nvSpPr>
        <p:spPr>
          <a:xfrm>
            <a:off x="9943186" y="2468880"/>
            <a:ext cx="1468526"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STEP 5</a:t>
            </a:r>
            <a:endParaRPr lang="en-US" sz="1100" dirty="0"/>
          </a:p>
        </p:txBody>
      </p:sp>
      <p:sp>
        <p:nvSpPr>
          <p:cNvPr id="35" name="Text 24"/>
          <p:cNvSpPr txBox="1"/>
          <p:nvPr/>
        </p:nvSpPr>
        <p:spPr>
          <a:xfrm>
            <a:off x="9943186" y="2743200"/>
            <a:ext cx="1468526" cy="365760"/>
          </a:xfrm>
          <a:prstGeom prst="rect">
            <a:avLst/>
          </a:prstGeom>
          <a:noFill/>
          <a:ln/>
        </p:spPr>
        <p:txBody>
          <a:bodyPr wrap="square" lIns="0" tIns="0" rIns="0" bIns="0" rtlCol="0" anchor="ctr"/>
          <a:lstStyle/>
          <a:p>
            <a:pPr indent="0" marL="0">
              <a:buNone/>
            </a:pPr>
            <a:r>
              <a:rPr lang="en-US" sz="1800" b="1" dirty="0">
                <a:solidFill>
                  <a:schemeClr val="tx1"/>
                </a:solidFill>
              </a:rPr>
              <a:t>Drive</a:t>
            </a:r>
            <a:endParaRPr lang="en-US" sz="1800" dirty="0"/>
          </a:p>
        </p:txBody>
      </p:sp>
      <p:sp>
        <p:nvSpPr>
          <p:cNvPr id="36" name="Text 25"/>
          <p:cNvSpPr txBox="1"/>
          <p:nvPr/>
        </p:nvSpPr>
        <p:spPr>
          <a:xfrm>
            <a:off x="9943186" y="3154680"/>
            <a:ext cx="1468526" cy="1417320"/>
          </a:xfrm>
          <a:prstGeom prst="rect">
            <a:avLst/>
          </a:prstGeom>
          <a:noFill/>
          <a:ln/>
        </p:spPr>
        <p:txBody>
          <a:bodyPr wrap="square" lIns="0" tIns="0" rIns="0" bIns="0" rtlCol="0" anchor="t"/>
          <a:lstStyle/>
          <a:p>
            <a:pPr indent="0" marL="0">
              <a:buNone/>
            </a:pPr>
            <a:r>
              <a:rPr lang="en-US" sz="1400" dirty="0">
                <a:solidFill>
                  <a:schemeClr val="tx2"/>
                </a:solidFill>
              </a:rPr>
              <a:t>Quarter car, then a full car on Monza, Spa and Daytona</a:t>
            </a:r>
            <a:endParaRPr lang="en-US" sz="1400" dirty="0"/>
          </a:p>
        </p:txBody>
      </p:sp>
      <p:sp>
        <p:nvSpPr>
          <p:cNvPr id="37" name="Text 26"/>
          <p:cNvSpPr txBox="1"/>
          <p:nvPr/>
        </p:nvSpPr>
        <p:spPr>
          <a:xfrm>
            <a:off x="548640" y="4892040"/>
            <a:ext cx="11091672" cy="411480"/>
          </a:xfrm>
          <a:prstGeom prst="rect">
            <a:avLst/>
          </a:prstGeom>
          <a:noFill/>
          <a:ln/>
        </p:spPr>
        <p:txBody>
          <a:bodyPr wrap="square" lIns="0" tIns="0" rIns="0" bIns="0" rtlCol="0" anchor="ctr"/>
          <a:lstStyle/>
          <a:p>
            <a:pPr indent="0" marL="0">
              <a:buNone/>
            </a:pPr>
            <a:r>
              <a:rPr lang="en-US" sz="1600" b="1" dirty="0">
                <a:solidFill>
                  <a:schemeClr val="tx1"/>
                </a:solidFill>
              </a:rPr>
              <a:t>Reduced-order model:  </a:t>
            </a:r>
            <a:pPr indent="0" marL="0">
              <a:buNone/>
            </a:pPr>
            <a:r>
              <a:rPr lang="en-US" sz="1600" b="1" dirty="0">
                <a:solidFill>
                  <a:schemeClr val="accent1"/>
                </a:solidFill>
                <a:latin typeface="Cambria" pitchFamily="34" charset="0"/>
                <a:ea typeface="Cambria" pitchFamily="34" charset="-122"/>
                <a:cs typeface="Cambria" pitchFamily="34" charset="-120"/>
              </a:rPr>
              <a:t>F = b·ẍ + c₁·ẋ + c₂·ẋ|ẋ|</a:t>
            </a:r>
            <a:endParaRPr lang="en-US" sz="1600" dirty="0"/>
          </a:p>
        </p:txBody>
      </p:sp>
      <p:sp>
        <p:nvSpPr>
          <p:cNvPr id="38" name="Text 27"/>
          <p:cNvSpPr txBox="1"/>
          <p:nvPr/>
        </p:nvSpPr>
        <p:spPr>
          <a:xfrm>
            <a:off x="548640" y="5486400"/>
            <a:ext cx="2377440" cy="548640"/>
          </a:xfrm>
          <a:prstGeom prst="rect">
            <a:avLst/>
          </a:prstGeom>
          <a:noFill/>
          <a:ln/>
        </p:spPr>
        <p:txBody>
          <a:bodyPr wrap="square" lIns="0" tIns="0" rIns="0" bIns="0" rtlCol="0" anchor="ctr"/>
          <a:lstStyle/>
          <a:p>
            <a:pPr indent="0" marL="0">
              <a:buNone/>
            </a:pPr>
            <a:r>
              <a:rPr lang="en-US" sz="1100" b="1" spc="100" kern="0" dirty="0">
                <a:solidFill>
                  <a:schemeClr val="accent3"/>
                </a:solidFill>
              </a:rPr>
              <a:t>TOOLS (all free / open source)</a:t>
            </a:r>
            <a:endParaRPr lang="en-US" sz="1100" dirty="0"/>
          </a:p>
        </p:txBody>
      </p:sp>
      <p:sp>
        <p:nvSpPr>
          <p:cNvPr id="39" name="Text 28"/>
          <p:cNvSpPr txBox="1"/>
          <p:nvPr/>
        </p:nvSpPr>
        <p:spPr>
          <a:xfrm>
            <a:off x="3017520" y="5532120"/>
            <a:ext cx="1737360" cy="457200"/>
          </a:xfrm>
          <a:prstGeom prst="roundRect">
            <a:avLst>
              <a:gd name="adj" fmla="val 20000"/>
            </a:avLst>
          </a:prstGeom>
          <a:solidFill>
            <a:schemeClr val="bg2"/>
          </a:solidFill>
          <a:ln/>
        </p:spPr>
        <p:txBody>
          <a:bodyPr wrap="square" lIns="0" tIns="0" rIns="0" bIns="0" rtlCol="0" anchor="ctr"/>
          <a:lstStyle/>
          <a:p>
            <a:pPr algn="ctr" indent="0" marL="0">
              <a:buNone/>
            </a:pPr>
            <a:r>
              <a:rPr lang="en-US" sz="1400" dirty="0">
                <a:solidFill>
                  <a:schemeClr val="tx1"/>
                </a:solidFill>
              </a:rPr>
              <a:t>OpenFOAM v2406</a:t>
            </a:r>
            <a:endParaRPr lang="en-US" sz="1400" dirty="0"/>
          </a:p>
        </p:txBody>
      </p:sp>
      <p:sp>
        <p:nvSpPr>
          <p:cNvPr id="40" name="Text 29"/>
          <p:cNvSpPr txBox="1"/>
          <p:nvPr/>
        </p:nvSpPr>
        <p:spPr>
          <a:xfrm>
            <a:off x="4937760" y="5532120"/>
            <a:ext cx="2743200" cy="457200"/>
          </a:xfrm>
          <a:prstGeom prst="roundRect">
            <a:avLst>
              <a:gd name="adj" fmla="val 20000"/>
            </a:avLst>
          </a:prstGeom>
          <a:solidFill>
            <a:schemeClr val="bg2"/>
          </a:solidFill>
          <a:ln/>
        </p:spPr>
        <p:txBody>
          <a:bodyPr wrap="square" lIns="0" tIns="0" rIns="0" bIns="0" rtlCol="0" anchor="ctr"/>
          <a:lstStyle/>
          <a:p>
            <a:pPr algn="ctr" indent="0" marL="0">
              <a:buNone/>
            </a:pPr>
            <a:r>
              <a:rPr lang="en-US" sz="1400" dirty="0">
                <a:solidFill>
                  <a:schemeClr val="tx1"/>
                </a:solidFill>
              </a:rPr>
              <a:t>Python: NumPy, SciPy, Matplotlib</a:t>
            </a:r>
            <a:endParaRPr lang="en-US" sz="1400" dirty="0"/>
          </a:p>
        </p:txBody>
      </p:sp>
      <p:sp>
        <p:nvSpPr>
          <p:cNvPr id="41" name="Text 30"/>
          <p:cNvSpPr txBox="1"/>
          <p:nvPr/>
        </p:nvSpPr>
        <p:spPr>
          <a:xfrm>
            <a:off x="7863840" y="5532120"/>
            <a:ext cx="1188720" cy="457200"/>
          </a:xfrm>
          <a:prstGeom prst="roundRect">
            <a:avLst>
              <a:gd name="adj" fmla="val 20000"/>
            </a:avLst>
          </a:prstGeom>
          <a:solidFill>
            <a:schemeClr val="bg2"/>
          </a:solidFill>
          <a:ln/>
        </p:spPr>
        <p:txBody>
          <a:bodyPr wrap="square" lIns="0" tIns="0" rIns="0" bIns="0" rtlCol="0" anchor="ctr"/>
          <a:lstStyle/>
          <a:p>
            <a:pPr algn="ctr" indent="0" marL="0">
              <a:buNone/>
            </a:pPr>
            <a:r>
              <a:rPr lang="en-US" sz="1400" dirty="0">
                <a:solidFill>
                  <a:schemeClr val="tx1"/>
                </a:solidFill>
              </a:rPr>
              <a:t>ParaView</a:t>
            </a:r>
            <a:endParaRPr lang="en-US" sz="1400" dirty="0"/>
          </a:p>
        </p:txBody>
      </p:sp>
      <p:sp>
        <p:nvSpPr>
          <p:cNvPr id="42" name="Text 31"/>
          <p:cNvSpPr txBox="1"/>
          <p:nvPr/>
        </p:nvSpPr>
        <p:spPr>
          <a:xfrm>
            <a:off x="9235440" y="5532120"/>
            <a:ext cx="2377440" cy="457200"/>
          </a:xfrm>
          <a:prstGeom prst="roundRect">
            <a:avLst>
              <a:gd name="adj" fmla="val 20000"/>
            </a:avLst>
          </a:prstGeom>
          <a:solidFill>
            <a:schemeClr val="bg2"/>
          </a:solidFill>
          <a:ln/>
        </p:spPr>
        <p:txBody>
          <a:bodyPr wrap="square" lIns="0" tIns="0" rIns="0" bIns="0" rtlCol="0" anchor="ctr"/>
          <a:lstStyle/>
          <a:p>
            <a:pPr algn="ctr" indent="0" marL="0">
              <a:buNone/>
            </a:pPr>
            <a:r>
              <a:rPr lang="en-US" sz="1400" dirty="0">
                <a:solidFill>
                  <a:schemeClr val="tx1"/>
                </a:solidFill>
              </a:rPr>
              <a:t>MATLAB (equivalent scripts)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CFD models: full helix and periodic sector</a:t>
            </a:r>
            <a:endParaRPr lang="en-US" sz="3000" dirty="0"/>
          </a:p>
        </p:txBody>
      </p:sp>
      <p:pic>
        <p:nvPicPr>
          <p:cNvPr id="3" name="Image 0" descr="Coarse, medium and fine O-grid cross-sections">    </p:cNvPr>
          <p:cNvPicPr>
            <a:picLocks noChangeAspect="1"/>
          </p:cNvPicPr>
          <p:nvPr/>
        </p:nvPicPr>
        <p:blipFill>
          <a:blip r:embed="rId1"/>
          <a:stretch>
            <a:fillRect/>
          </a:stretch>
        </p:blipFill>
        <p:spPr>
          <a:xfrm>
            <a:off x="548640" y="1703070"/>
            <a:ext cx="6400800" cy="2080260"/>
          </a:xfrm>
          <a:prstGeom prst="rect">
            <a:avLst/>
          </a:prstGeom>
        </p:spPr>
      </p:pic>
      <p:sp>
        <p:nvSpPr>
          <p:cNvPr id="4" name="Text 1"/>
          <p:cNvSpPr txBox="1"/>
          <p:nvPr/>
        </p:nvSpPr>
        <p:spPr>
          <a:xfrm>
            <a:off x="548640" y="4160520"/>
            <a:ext cx="6400800" cy="274320"/>
          </a:xfrm>
          <a:prstGeom prst="rect">
            <a:avLst/>
          </a:prstGeom>
          <a:noFill/>
          <a:ln/>
        </p:spPr>
        <p:txBody>
          <a:bodyPr wrap="square" lIns="0" tIns="0" rIns="0" bIns="0" rtlCol="0" anchor="ctr"/>
          <a:lstStyle/>
          <a:p>
            <a:pPr algn="ctr" indent="0" marL="0">
              <a:buNone/>
            </a:pPr>
            <a:r>
              <a:rPr lang="en-US" sz="1100" i="1" dirty="0">
                <a:solidFill>
                  <a:schemeClr val="accent3"/>
                </a:solidFill>
              </a:rPr>
              <a:t>Structured O-grid cross-sections: coarse / medium / fine</a:t>
            </a:r>
            <a:endParaRPr lang="en-US" sz="1100" dirty="0"/>
          </a:p>
        </p:txBody>
      </p:sp>
      <p:pic>
        <p:nvPicPr>
          <p:cNvPr id="5" name="Image 1" descr="Periodic 10 degree torus sector mesh">    </p:cNvPr>
          <p:cNvPicPr>
            <a:picLocks noChangeAspect="1"/>
          </p:cNvPicPr>
          <p:nvPr/>
        </p:nvPicPr>
        <p:blipFill>
          <a:blip r:embed="rId2"/>
          <a:stretch>
            <a:fillRect/>
          </a:stretch>
        </p:blipFill>
        <p:spPr>
          <a:xfrm>
            <a:off x="7406640" y="1373483"/>
            <a:ext cx="4233672" cy="2739435"/>
          </a:xfrm>
          <a:prstGeom prst="rect">
            <a:avLst/>
          </a:prstGeom>
        </p:spPr>
      </p:pic>
      <p:sp>
        <p:nvSpPr>
          <p:cNvPr id="6" name="Text 2"/>
          <p:cNvSpPr txBox="1"/>
          <p:nvPr/>
        </p:nvSpPr>
        <p:spPr>
          <a:xfrm>
            <a:off x="7406640" y="4160520"/>
            <a:ext cx="4233672" cy="274320"/>
          </a:xfrm>
          <a:prstGeom prst="rect">
            <a:avLst/>
          </a:prstGeom>
          <a:noFill/>
          <a:ln/>
        </p:spPr>
        <p:txBody>
          <a:bodyPr wrap="square" lIns="0" tIns="0" rIns="0" bIns="0" rtlCol="0" anchor="ctr"/>
          <a:lstStyle/>
          <a:p>
            <a:pPr algn="ctr" indent="0" marL="0">
              <a:buNone/>
            </a:pPr>
            <a:r>
              <a:rPr lang="en-US" sz="1100" i="1" dirty="0">
                <a:solidFill>
                  <a:schemeClr val="accent3"/>
                </a:solidFill>
              </a:rPr>
              <a:t>Periodic 10° torus sector, 2,560 cells</a:t>
            </a:r>
            <a:endParaRPr lang="en-US" sz="1100" dirty="0"/>
          </a:p>
        </p:txBody>
      </p:sp>
      <p:sp>
        <p:nvSpPr>
          <p:cNvPr id="7" name="model stat 1"/>
          <p:cNvSpPr/>
          <p:nvPr/>
        </p:nvSpPr>
        <p:spPr>
          <a:xfrm>
            <a:off x="548640" y="4526280"/>
            <a:ext cx="3514344" cy="1691640"/>
          </a:xfrm>
          <a:prstGeom prst="roundRect">
            <a:avLst>
              <a:gd name="adj" fmla="val 4324"/>
            </a:avLst>
          </a:prstGeom>
          <a:solidFill>
            <a:schemeClr val="bg2"/>
          </a:solidFill>
          <a:ln/>
        </p:spPr>
      </p:sp>
      <p:sp>
        <p:nvSpPr>
          <p:cNvPr id="8" name="Text 4"/>
          <p:cNvSpPr txBox="1"/>
          <p:nvPr/>
        </p:nvSpPr>
        <p:spPr>
          <a:xfrm>
            <a:off x="822960" y="4663440"/>
            <a:ext cx="2965704" cy="548640"/>
          </a:xfrm>
          <a:prstGeom prst="rect">
            <a:avLst/>
          </a:prstGeom>
          <a:noFill/>
          <a:ln/>
        </p:spPr>
        <p:txBody>
          <a:bodyPr wrap="square" lIns="0" tIns="0" rIns="0" bIns="0" rtlCol="0" anchor="ctr"/>
          <a:lstStyle/>
          <a:p>
            <a:pPr indent="0" marL="0">
              <a:buNone/>
            </a:pPr>
            <a:r>
              <a:rPr lang="en-US" sz="2600" b="1" dirty="0">
                <a:solidFill>
                  <a:schemeClr val="accent1"/>
                </a:solidFill>
              </a:rPr>
              <a:t>0.16 / 0.38 / 0.90 M</a:t>
            </a:r>
            <a:endParaRPr lang="en-US" sz="2600" dirty="0"/>
          </a:p>
        </p:txBody>
      </p:sp>
      <p:sp>
        <p:nvSpPr>
          <p:cNvPr id="9" name="Text 5"/>
          <p:cNvSpPr txBox="1"/>
          <p:nvPr/>
        </p:nvSpPr>
        <p:spPr>
          <a:xfrm>
            <a:off x="822960" y="5257800"/>
            <a:ext cx="2965704" cy="868680"/>
          </a:xfrm>
          <a:prstGeom prst="rect">
            <a:avLst/>
          </a:prstGeom>
          <a:noFill/>
          <a:ln/>
        </p:spPr>
        <p:txBody>
          <a:bodyPr wrap="square" lIns="0" tIns="0" rIns="0" bIns="0" rtlCol="0" anchor="t"/>
          <a:lstStyle/>
          <a:p>
            <a:pPr indent="0" marL="0">
              <a:buNone/>
            </a:pPr>
            <a:r>
              <a:rPr lang="en-US" sz="1400" dirty="0">
                <a:solidFill>
                  <a:schemeClr val="tx2"/>
                </a:solidFill>
              </a:rPr>
              <a:t>cells in the full 5-turn helix (d = 6 mm, R = 30 mm, pitch 10 mm)</a:t>
            </a:r>
            <a:endParaRPr lang="en-US" sz="1400" dirty="0"/>
          </a:p>
        </p:txBody>
      </p:sp>
      <p:sp>
        <p:nvSpPr>
          <p:cNvPr id="10" name="model stat 2"/>
          <p:cNvSpPr/>
          <p:nvPr/>
        </p:nvSpPr>
        <p:spPr>
          <a:xfrm>
            <a:off x="4337304" y="4526280"/>
            <a:ext cx="3514344" cy="1691640"/>
          </a:xfrm>
          <a:prstGeom prst="roundRect">
            <a:avLst>
              <a:gd name="adj" fmla="val 4324"/>
            </a:avLst>
          </a:prstGeom>
          <a:solidFill>
            <a:schemeClr val="bg2"/>
          </a:solidFill>
          <a:ln/>
        </p:spPr>
      </p:sp>
      <p:sp>
        <p:nvSpPr>
          <p:cNvPr id="11" name="Text 7"/>
          <p:cNvSpPr txBox="1"/>
          <p:nvPr/>
        </p:nvSpPr>
        <p:spPr>
          <a:xfrm>
            <a:off x="4611624" y="4663440"/>
            <a:ext cx="2965704" cy="548640"/>
          </a:xfrm>
          <a:prstGeom prst="rect">
            <a:avLst/>
          </a:prstGeom>
          <a:noFill/>
          <a:ln/>
        </p:spPr>
        <p:txBody>
          <a:bodyPr wrap="square" lIns="0" tIns="0" rIns="0" bIns="0" rtlCol="0" anchor="ctr"/>
          <a:lstStyle/>
          <a:p>
            <a:pPr indent="0" marL="0">
              <a:buNone/>
            </a:pPr>
            <a:r>
              <a:rPr lang="en-US" sz="2600" b="1" dirty="0">
                <a:solidFill>
                  <a:schemeClr val="accent1"/>
                </a:solidFill>
              </a:rPr>
              <a:t>2,560</a:t>
            </a:r>
            <a:endParaRPr lang="en-US" sz="2600" dirty="0"/>
          </a:p>
        </p:txBody>
      </p:sp>
      <p:sp>
        <p:nvSpPr>
          <p:cNvPr id="12" name="Text 8"/>
          <p:cNvSpPr txBox="1"/>
          <p:nvPr/>
        </p:nvSpPr>
        <p:spPr>
          <a:xfrm>
            <a:off x="4611624" y="5257800"/>
            <a:ext cx="2965704" cy="868680"/>
          </a:xfrm>
          <a:prstGeom prst="rect">
            <a:avLst/>
          </a:prstGeom>
          <a:noFill/>
          <a:ln/>
        </p:spPr>
        <p:txBody>
          <a:bodyPr wrap="square" lIns="0" tIns="0" rIns="0" bIns="0" rtlCol="0" anchor="t"/>
          <a:lstStyle/>
          <a:p>
            <a:pPr indent="0" marL="0">
              <a:buNone/>
            </a:pPr>
            <a:r>
              <a:rPr lang="en-US" sz="1400" dirty="0">
                <a:solidFill>
                  <a:schemeClr val="tx2"/>
                </a:solidFill>
              </a:rPr>
              <a:t>cells in the periodic sector: cyclic faces make the flow repeat like an endless coil</a:t>
            </a:r>
            <a:endParaRPr lang="en-US" sz="1400" dirty="0"/>
          </a:p>
        </p:txBody>
      </p:sp>
      <p:sp>
        <p:nvSpPr>
          <p:cNvPr id="13" name="model stat 3"/>
          <p:cNvSpPr/>
          <p:nvPr/>
        </p:nvSpPr>
        <p:spPr>
          <a:xfrm>
            <a:off x="8125968" y="4526280"/>
            <a:ext cx="3514344" cy="1691640"/>
          </a:xfrm>
          <a:prstGeom prst="roundRect">
            <a:avLst>
              <a:gd name="adj" fmla="val 4324"/>
            </a:avLst>
          </a:prstGeom>
          <a:solidFill>
            <a:schemeClr val="bg2"/>
          </a:solidFill>
          <a:ln/>
        </p:spPr>
      </p:sp>
      <p:sp>
        <p:nvSpPr>
          <p:cNvPr id="14" name="Text 10"/>
          <p:cNvSpPr txBox="1"/>
          <p:nvPr/>
        </p:nvSpPr>
        <p:spPr>
          <a:xfrm>
            <a:off x="8400288" y="4663440"/>
            <a:ext cx="2965704" cy="548640"/>
          </a:xfrm>
          <a:prstGeom prst="rect">
            <a:avLst/>
          </a:prstGeom>
          <a:noFill/>
          <a:ln/>
        </p:spPr>
        <p:txBody>
          <a:bodyPr wrap="square" lIns="0" tIns="0" rIns="0" bIns="0" rtlCol="0" anchor="ctr"/>
          <a:lstStyle/>
          <a:p>
            <a:pPr indent="0" marL="0">
              <a:buNone/>
            </a:pPr>
            <a:r>
              <a:rPr lang="en-US" sz="2600" b="1" dirty="0">
                <a:solidFill>
                  <a:schemeClr val="accent1"/>
                </a:solidFill>
              </a:rPr>
              <a:t>≈ 1/100</a:t>
            </a:r>
            <a:endParaRPr lang="en-US" sz="2600" dirty="0"/>
          </a:p>
        </p:txBody>
      </p:sp>
      <p:sp>
        <p:nvSpPr>
          <p:cNvPr id="15" name="Text 11"/>
          <p:cNvSpPr txBox="1"/>
          <p:nvPr/>
        </p:nvSpPr>
        <p:spPr>
          <a:xfrm>
            <a:off x="8400288" y="5257800"/>
            <a:ext cx="2965704" cy="868680"/>
          </a:xfrm>
          <a:prstGeom prst="rect">
            <a:avLst/>
          </a:prstGeom>
          <a:noFill/>
          <a:ln/>
        </p:spPr>
        <p:txBody>
          <a:bodyPr wrap="square" lIns="0" tIns="0" rIns="0" bIns="0" rtlCol="0" anchor="t"/>
          <a:lstStyle/>
          <a:p>
            <a:pPr indent="0" marL="0">
              <a:buNone/>
            </a:pPr>
            <a:r>
              <a:rPr lang="en-US" sz="1400" dirty="0">
                <a:solidFill>
                  <a:schemeClr val="tx2"/>
                </a:solidFill>
              </a:rPr>
              <a:t>of the cost: minutes instead of days per oscillating case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Vehicle model: four suspension layouts</a:t>
            </a:r>
            <a:endParaRPr lang="en-US" sz="3000" dirty="0"/>
          </a:p>
        </p:txBody>
      </p:sp>
      <p:pic>
        <p:nvPicPr>
          <p:cNvPr id="3" name="Image 0" descr="Quarter-car layouts L1 to L4">    </p:cNvPr>
          <p:cNvPicPr>
            <a:picLocks noChangeAspect="1"/>
          </p:cNvPicPr>
          <p:nvPr/>
        </p:nvPicPr>
        <p:blipFill>
          <a:blip r:embed="rId1"/>
          <a:stretch>
            <a:fillRect/>
          </a:stretch>
        </p:blipFill>
        <p:spPr>
          <a:xfrm>
            <a:off x="923544" y="1280160"/>
            <a:ext cx="10341864" cy="3977640"/>
          </a:xfrm>
          <a:prstGeom prst="rect">
            <a:avLst/>
          </a:prstGeom>
        </p:spPr>
      </p:pic>
      <p:sp>
        <p:nvSpPr>
          <p:cNvPr id="4" name="vehicle chip 1"/>
          <p:cNvSpPr/>
          <p:nvPr/>
        </p:nvSpPr>
        <p:spPr>
          <a:xfrm>
            <a:off x="548640" y="5440680"/>
            <a:ext cx="3514344" cy="777240"/>
          </a:xfrm>
          <a:prstGeom prst="roundRect">
            <a:avLst>
              <a:gd name="adj" fmla="val 9412"/>
            </a:avLst>
          </a:prstGeom>
          <a:solidFill>
            <a:schemeClr val="bg2"/>
          </a:solidFill>
          <a:ln/>
        </p:spPr>
      </p:sp>
      <p:sp>
        <p:nvSpPr>
          <p:cNvPr id="5" name="badge FaCar"/>
          <p:cNvSpPr/>
          <p:nvPr/>
        </p:nvSpPr>
        <p:spPr>
          <a:xfrm>
            <a:off x="685800" y="5554980"/>
            <a:ext cx="548640" cy="548640"/>
          </a:xfrm>
          <a:prstGeom prst="ellipse">
            <a:avLst/>
          </a:prstGeom>
          <a:solidFill>
            <a:schemeClr val="accent1"/>
          </a:solidFill>
          <a:ln/>
        </p:spPr>
      </p:sp>
      <p:pic>
        <p:nvPicPr>
          <p:cNvPr id="6" name="Image 1" descr="Car">    </p:cNvPr>
          <p:cNvPicPr>
            <a:picLocks noChangeAspect="1"/>
          </p:cNvPicPr>
          <p:nvPr/>
        </p:nvPicPr>
        <p:blipFill>
          <a:blip r:embed="rId2"/>
          <a:stretch>
            <a:fillRect/>
          </a:stretch>
        </p:blipFill>
        <p:spPr>
          <a:xfrm>
            <a:off x="828446" y="5697626"/>
            <a:ext cx="263347" cy="263347"/>
          </a:xfrm>
          <a:prstGeom prst="rect">
            <a:avLst/>
          </a:prstGeom>
        </p:spPr>
      </p:pic>
      <p:sp>
        <p:nvSpPr>
          <p:cNvPr id="7" name="Text 3"/>
          <p:cNvSpPr txBox="1"/>
          <p:nvPr/>
        </p:nvSpPr>
        <p:spPr>
          <a:xfrm>
            <a:off x="1371600" y="5440680"/>
            <a:ext cx="2554224" cy="777240"/>
          </a:xfrm>
          <a:prstGeom prst="rect">
            <a:avLst/>
          </a:prstGeom>
          <a:noFill/>
          <a:ln/>
        </p:spPr>
        <p:txBody>
          <a:bodyPr wrap="square" lIns="0" tIns="0" rIns="0" bIns="0" rtlCol="0" anchor="ctr"/>
          <a:lstStyle/>
          <a:p>
            <a:pPr indent="0" marL="0">
              <a:buNone/>
            </a:pPr>
            <a:r>
              <a:rPr lang="en-US" sz="1400" dirty="0">
                <a:solidFill>
                  <a:schemeClr val="tx1"/>
                </a:solidFill>
              </a:rPr>
              <a:t>Quarter car: 250 kg sprung, 35 kg unsprung mass</a:t>
            </a:r>
            <a:endParaRPr lang="en-US" sz="1400" dirty="0"/>
          </a:p>
        </p:txBody>
      </p:sp>
      <p:sp>
        <p:nvSpPr>
          <p:cNvPr id="8" name="vehicle chip 2"/>
          <p:cNvSpPr/>
          <p:nvPr/>
        </p:nvSpPr>
        <p:spPr>
          <a:xfrm>
            <a:off x="4337304" y="5440680"/>
            <a:ext cx="3514344" cy="777240"/>
          </a:xfrm>
          <a:prstGeom prst="roundRect">
            <a:avLst>
              <a:gd name="adj" fmla="val 9412"/>
            </a:avLst>
          </a:prstGeom>
          <a:solidFill>
            <a:schemeClr val="bg2"/>
          </a:solidFill>
          <a:ln/>
        </p:spPr>
      </p:sp>
      <p:sp>
        <p:nvSpPr>
          <p:cNvPr id="9" name="badge FaRoad"/>
          <p:cNvSpPr/>
          <p:nvPr/>
        </p:nvSpPr>
        <p:spPr>
          <a:xfrm>
            <a:off x="4474464" y="5554980"/>
            <a:ext cx="548640" cy="548640"/>
          </a:xfrm>
          <a:prstGeom prst="ellipse">
            <a:avLst/>
          </a:prstGeom>
          <a:solidFill>
            <a:schemeClr val="accent1"/>
          </a:solidFill>
          <a:ln/>
        </p:spPr>
      </p:sp>
      <p:pic>
        <p:nvPicPr>
          <p:cNvPr id="10" name="Image 2" descr="Road">    </p:cNvPr>
          <p:cNvPicPr>
            <a:picLocks noChangeAspect="1"/>
          </p:cNvPicPr>
          <p:nvPr/>
        </p:nvPicPr>
        <p:blipFill>
          <a:blip r:embed="rId3"/>
          <a:stretch>
            <a:fillRect/>
          </a:stretch>
        </p:blipFill>
        <p:spPr>
          <a:xfrm>
            <a:off x="4617110" y="5697626"/>
            <a:ext cx="263347" cy="263347"/>
          </a:xfrm>
          <a:prstGeom prst="rect">
            <a:avLst/>
          </a:prstGeom>
        </p:spPr>
      </p:pic>
      <p:sp>
        <p:nvSpPr>
          <p:cNvPr id="11" name="Text 6"/>
          <p:cNvSpPr txBox="1"/>
          <p:nvPr/>
        </p:nvSpPr>
        <p:spPr>
          <a:xfrm>
            <a:off x="5160264" y="5440680"/>
            <a:ext cx="2554224" cy="777240"/>
          </a:xfrm>
          <a:prstGeom prst="rect">
            <a:avLst/>
          </a:prstGeom>
          <a:noFill/>
          <a:ln/>
        </p:spPr>
        <p:txBody>
          <a:bodyPr wrap="square" lIns="0" tIns="0" rIns="0" bIns="0" rtlCol="0" anchor="ctr"/>
          <a:lstStyle/>
          <a:p>
            <a:pPr indent="0" marL="0">
              <a:buNone/>
            </a:pPr>
            <a:r>
              <a:rPr lang="en-US" sz="1400" dirty="0">
                <a:solidFill>
                  <a:schemeClr val="tx1"/>
                </a:solidFill>
              </a:rPr>
              <a:t>ISO 8608 class A road at 180 km/h</a:t>
            </a:r>
            <a:endParaRPr lang="en-US" sz="1400" dirty="0"/>
          </a:p>
        </p:txBody>
      </p:sp>
      <p:sp>
        <p:nvSpPr>
          <p:cNvPr id="12" name="vehicle chip 3"/>
          <p:cNvSpPr/>
          <p:nvPr/>
        </p:nvSpPr>
        <p:spPr>
          <a:xfrm>
            <a:off x="8125968" y="5440680"/>
            <a:ext cx="3514344" cy="777240"/>
          </a:xfrm>
          <a:prstGeom prst="roundRect">
            <a:avLst>
              <a:gd name="adj" fmla="val 9412"/>
            </a:avLst>
          </a:prstGeom>
          <a:solidFill>
            <a:schemeClr val="bg2"/>
          </a:solidFill>
          <a:ln/>
        </p:spPr>
      </p:sp>
      <p:sp>
        <p:nvSpPr>
          <p:cNvPr id="13" name="badge FaFlagCheckered"/>
          <p:cNvSpPr/>
          <p:nvPr/>
        </p:nvSpPr>
        <p:spPr>
          <a:xfrm>
            <a:off x="8263128" y="5554980"/>
            <a:ext cx="548640" cy="548640"/>
          </a:xfrm>
          <a:prstGeom prst="ellipse">
            <a:avLst/>
          </a:prstGeom>
          <a:solidFill>
            <a:schemeClr val="accent1"/>
          </a:solidFill>
          <a:ln/>
        </p:spPr>
      </p:sp>
      <p:pic>
        <p:nvPicPr>
          <p:cNvPr id="14" name="Image 3" descr="FlagCheckered">    </p:cNvPr>
          <p:cNvPicPr>
            <a:picLocks noChangeAspect="1"/>
          </p:cNvPicPr>
          <p:nvPr/>
        </p:nvPicPr>
        <p:blipFill>
          <a:blip r:embed="rId4"/>
          <a:stretch>
            <a:fillRect/>
          </a:stretch>
        </p:blipFill>
        <p:spPr>
          <a:xfrm>
            <a:off x="8405774" y="5697626"/>
            <a:ext cx="263347" cy="263347"/>
          </a:xfrm>
          <a:prstGeom prst="rect">
            <a:avLst/>
          </a:prstGeom>
        </p:spPr>
      </p:pic>
      <p:sp>
        <p:nvSpPr>
          <p:cNvPr id="15" name="Text 9"/>
          <p:cNvSpPr txBox="1"/>
          <p:nvPr/>
        </p:nvSpPr>
        <p:spPr>
          <a:xfrm>
            <a:off x="8948928" y="5440680"/>
            <a:ext cx="2554224" cy="777240"/>
          </a:xfrm>
          <a:prstGeom prst="rect">
            <a:avLst/>
          </a:prstGeom>
          <a:noFill/>
          <a:ln/>
        </p:spPr>
        <p:txBody>
          <a:bodyPr wrap="square" lIns="0" tIns="0" rIns="0" bIns="0" rtlCol="0" anchor="ctr"/>
          <a:lstStyle/>
          <a:p>
            <a:pPr indent="0" marL="0">
              <a:buNone/>
            </a:pPr>
            <a:r>
              <a:rPr lang="en-US" sz="1400" dirty="0">
                <a:solidFill>
                  <a:schemeClr val="tx1"/>
                </a:solidFill>
              </a:rPr>
              <a:t>Goal: minimise dynamic tyre load (more grip)</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CFD validation: we can trust the numbers</a:t>
            </a:r>
            <a:endParaRPr lang="en-US" sz="3000" dirty="0"/>
          </a:p>
        </p:txBody>
      </p:sp>
      <p:pic>
        <p:nvPicPr>
          <p:cNvPr id="3" name="Image 0" descr="CFD friction factor ratio against Ito and White correlations">    </p:cNvPr>
          <p:cNvPicPr>
            <a:picLocks noChangeAspect="1"/>
          </p:cNvPicPr>
          <p:nvPr/>
        </p:nvPicPr>
        <p:blipFill>
          <a:blip r:embed="rId1"/>
          <a:stretch>
            <a:fillRect/>
          </a:stretch>
        </p:blipFill>
        <p:spPr>
          <a:xfrm>
            <a:off x="548640" y="1691640"/>
            <a:ext cx="5943600" cy="4114800"/>
          </a:xfrm>
          <a:prstGeom prst="rect">
            <a:avLst/>
          </a:prstGeom>
        </p:spPr>
      </p:pic>
      <p:sp>
        <p:nvSpPr>
          <p:cNvPr id="4" name="validation stat 1"/>
          <p:cNvSpPr/>
          <p:nvPr/>
        </p:nvSpPr>
        <p:spPr>
          <a:xfrm>
            <a:off x="6858000" y="1371600"/>
            <a:ext cx="4782312" cy="1417320"/>
          </a:xfrm>
          <a:prstGeom prst="roundRect">
            <a:avLst>
              <a:gd name="adj" fmla="val 5161"/>
            </a:avLst>
          </a:prstGeom>
          <a:solidFill>
            <a:schemeClr val="bg2"/>
          </a:solidFill>
          <a:ln/>
        </p:spPr>
      </p:sp>
      <p:sp>
        <p:nvSpPr>
          <p:cNvPr id="5" name="Text 2"/>
          <p:cNvSpPr txBox="1"/>
          <p:nvPr/>
        </p:nvSpPr>
        <p:spPr>
          <a:xfrm>
            <a:off x="7132320" y="1508760"/>
            <a:ext cx="4206240" cy="594360"/>
          </a:xfrm>
          <a:prstGeom prst="rect">
            <a:avLst/>
          </a:prstGeom>
          <a:noFill/>
          <a:ln/>
        </p:spPr>
        <p:txBody>
          <a:bodyPr wrap="square" lIns="0" tIns="0" rIns="0" bIns="0" rtlCol="0" anchor="ctr"/>
          <a:lstStyle/>
          <a:p>
            <a:pPr indent="0" marL="0">
              <a:buNone/>
            </a:pPr>
            <a:r>
              <a:rPr lang="en-US" sz="3200" b="1" dirty="0">
                <a:solidFill>
                  <a:schemeClr val="accent1"/>
                </a:solidFill>
              </a:rPr>
              <a:t>0.3–3.6 %</a:t>
            </a:r>
            <a:endParaRPr lang="en-US" sz="3200" dirty="0"/>
          </a:p>
        </p:txBody>
      </p:sp>
      <p:sp>
        <p:nvSpPr>
          <p:cNvPr id="6" name="Text 3"/>
          <p:cNvSpPr txBox="1"/>
          <p:nvPr/>
        </p:nvSpPr>
        <p:spPr>
          <a:xfrm>
            <a:off x="7132320" y="2103120"/>
            <a:ext cx="4297680" cy="594360"/>
          </a:xfrm>
          <a:prstGeom prst="rect">
            <a:avLst/>
          </a:prstGeom>
          <a:noFill/>
          <a:ln/>
        </p:spPr>
        <p:txBody>
          <a:bodyPr wrap="square" lIns="0" tIns="0" rIns="0" bIns="0" rtlCol="0" anchor="t"/>
          <a:lstStyle/>
          <a:p>
            <a:pPr indent="0" marL="0">
              <a:buNone/>
            </a:pPr>
            <a:r>
              <a:rPr lang="en-US" sz="1400" dirty="0">
                <a:solidFill>
                  <a:schemeClr val="tx2"/>
                </a:solidFill>
              </a:rPr>
              <a:t>agreement with the Ito (1959) friction correlation, Re 100–4000 (De 32–1265)</a:t>
            </a:r>
            <a:endParaRPr lang="en-US" sz="1400" dirty="0"/>
          </a:p>
        </p:txBody>
      </p:sp>
      <p:sp>
        <p:nvSpPr>
          <p:cNvPr id="7" name="validation stat 2"/>
          <p:cNvSpPr/>
          <p:nvPr/>
        </p:nvSpPr>
        <p:spPr>
          <a:xfrm>
            <a:off x="6858000" y="3017520"/>
            <a:ext cx="4782312" cy="1417320"/>
          </a:xfrm>
          <a:prstGeom prst="roundRect">
            <a:avLst>
              <a:gd name="adj" fmla="val 5161"/>
            </a:avLst>
          </a:prstGeom>
          <a:solidFill>
            <a:schemeClr val="bg2"/>
          </a:solidFill>
          <a:ln/>
        </p:spPr>
      </p:sp>
      <p:sp>
        <p:nvSpPr>
          <p:cNvPr id="8" name="Text 5"/>
          <p:cNvSpPr txBox="1"/>
          <p:nvPr/>
        </p:nvSpPr>
        <p:spPr>
          <a:xfrm>
            <a:off x="7132320" y="3154680"/>
            <a:ext cx="4206240" cy="594360"/>
          </a:xfrm>
          <a:prstGeom prst="rect">
            <a:avLst/>
          </a:prstGeom>
          <a:noFill/>
          <a:ln/>
        </p:spPr>
        <p:txBody>
          <a:bodyPr wrap="square" lIns="0" tIns="0" rIns="0" bIns="0" rtlCol="0" anchor="ctr"/>
          <a:lstStyle/>
          <a:p>
            <a:pPr indent="0" marL="0">
              <a:buNone/>
            </a:pPr>
            <a:r>
              <a:rPr lang="en-US" sz="3200" b="1" dirty="0">
                <a:solidFill>
                  <a:schemeClr val="accent1"/>
                </a:solidFill>
              </a:rPr>
              <a:t>0.1–0.3 %</a:t>
            </a:r>
            <a:endParaRPr lang="en-US" sz="3200" dirty="0"/>
          </a:p>
        </p:txBody>
      </p:sp>
      <p:sp>
        <p:nvSpPr>
          <p:cNvPr id="9" name="Text 6"/>
          <p:cNvSpPr txBox="1"/>
          <p:nvPr/>
        </p:nvSpPr>
        <p:spPr>
          <a:xfrm>
            <a:off x="7132320" y="3749040"/>
            <a:ext cx="4297680" cy="594360"/>
          </a:xfrm>
          <a:prstGeom prst="rect">
            <a:avLst/>
          </a:prstGeom>
          <a:noFill/>
          <a:ln/>
        </p:spPr>
        <p:txBody>
          <a:bodyPr wrap="square" lIns="0" tIns="0" rIns="0" bIns="0" rtlCol="0" anchor="t"/>
          <a:lstStyle/>
          <a:p>
            <a:pPr indent="0" marL="0">
              <a:buNone/>
            </a:pPr>
            <a:r>
              <a:rPr lang="en-US" sz="1400" dirty="0">
                <a:solidFill>
                  <a:schemeClr val="tx2"/>
                </a:solidFill>
              </a:rPr>
              <a:t>discretisation uncertainty from a 3-mesh GCI study (up to De ≈ 300)</a:t>
            </a:r>
            <a:endParaRPr lang="en-US" sz="1400" dirty="0"/>
          </a:p>
        </p:txBody>
      </p:sp>
      <p:sp>
        <p:nvSpPr>
          <p:cNvPr id="10" name="validation stat 3"/>
          <p:cNvSpPr/>
          <p:nvPr/>
        </p:nvSpPr>
        <p:spPr>
          <a:xfrm>
            <a:off x="6858000" y="4663440"/>
            <a:ext cx="4782312" cy="1417320"/>
          </a:xfrm>
          <a:prstGeom prst="roundRect">
            <a:avLst>
              <a:gd name="adj" fmla="val 5161"/>
            </a:avLst>
          </a:prstGeom>
          <a:solidFill>
            <a:schemeClr val="bg2"/>
          </a:solidFill>
          <a:ln/>
        </p:spPr>
      </p:sp>
      <p:sp>
        <p:nvSpPr>
          <p:cNvPr id="11" name="Text 8"/>
          <p:cNvSpPr txBox="1"/>
          <p:nvPr/>
        </p:nvSpPr>
        <p:spPr>
          <a:xfrm>
            <a:off x="7132320" y="4800600"/>
            <a:ext cx="4206240" cy="594360"/>
          </a:xfrm>
          <a:prstGeom prst="rect">
            <a:avLst/>
          </a:prstGeom>
          <a:noFill/>
          <a:ln/>
        </p:spPr>
        <p:txBody>
          <a:bodyPr wrap="square" lIns="0" tIns="0" rIns="0" bIns="0" rtlCol="0" anchor="ctr"/>
          <a:lstStyle/>
          <a:p>
            <a:pPr indent="0" marL="0">
              <a:buNone/>
            </a:pPr>
            <a:r>
              <a:rPr lang="en-US" sz="3200" b="1" dirty="0">
                <a:solidFill>
                  <a:schemeClr val="accent1"/>
                </a:solidFill>
              </a:rPr>
              <a:t>&lt; 0.1 %</a:t>
            </a:r>
            <a:endParaRPr lang="en-US" sz="3200" dirty="0"/>
          </a:p>
        </p:txBody>
      </p:sp>
      <p:sp>
        <p:nvSpPr>
          <p:cNvPr id="12" name="Text 9"/>
          <p:cNvSpPr txBox="1"/>
          <p:nvPr/>
        </p:nvSpPr>
        <p:spPr>
          <a:xfrm>
            <a:off x="7132320" y="5394960"/>
            <a:ext cx="4297680" cy="594360"/>
          </a:xfrm>
          <a:prstGeom prst="rect">
            <a:avLst/>
          </a:prstGeom>
          <a:noFill/>
          <a:ln/>
        </p:spPr>
        <p:txBody>
          <a:bodyPr wrap="square" lIns="0" tIns="0" rIns="0" bIns="0" rtlCol="0" anchor="t"/>
          <a:lstStyle/>
          <a:p>
            <a:pPr indent="0" marL="0">
              <a:buNone/>
            </a:pPr>
            <a:r>
              <a:rPr lang="en-US" sz="1400" dirty="0">
                <a:solidFill>
                  <a:schemeClr val="tx2"/>
                </a:solidFill>
              </a:rPr>
              <a:t>effect of helix pitch: the torus sector reproduces the full helix</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Seeing the flow: Dean vortices</a:t>
            </a:r>
            <a:endParaRPr lang="en-US" sz="3000" dirty="0"/>
          </a:p>
        </p:txBody>
      </p:sp>
      <p:pic>
        <p:nvPicPr>
          <p:cNvPr id="3" name="Image 0" descr="Axial speed and Dean vortex streamlines at three Dean numbers">    </p:cNvPr>
          <p:cNvPicPr>
            <a:picLocks noChangeAspect="1"/>
          </p:cNvPicPr>
          <p:nvPr/>
        </p:nvPicPr>
        <p:blipFill>
          <a:blip r:embed="rId1"/>
          <a:stretch>
            <a:fillRect/>
          </a:stretch>
        </p:blipFill>
        <p:spPr>
          <a:xfrm>
            <a:off x="586974" y="1280160"/>
            <a:ext cx="11015003" cy="3977640"/>
          </a:xfrm>
          <a:prstGeom prst="rect">
            <a:avLst/>
          </a:prstGeom>
        </p:spPr>
      </p:pic>
      <p:sp>
        <p:nvSpPr>
          <p:cNvPr id="4" name="badge FaWind"/>
          <p:cNvSpPr/>
          <p:nvPr/>
        </p:nvSpPr>
        <p:spPr>
          <a:xfrm>
            <a:off x="548640" y="5532120"/>
            <a:ext cx="548640" cy="548640"/>
          </a:xfrm>
          <a:prstGeom prst="ellipse">
            <a:avLst/>
          </a:prstGeom>
          <a:solidFill>
            <a:schemeClr val="accent1"/>
          </a:solidFill>
          <a:ln/>
        </p:spPr>
      </p:sp>
      <p:pic>
        <p:nvPicPr>
          <p:cNvPr id="5" name="Image 1" descr="Wind">    </p:cNvPr>
          <p:cNvPicPr>
            <a:picLocks noChangeAspect="1"/>
          </p:cNvPicPr>
          <p:nvPr/>
        </p:nvPicPr>
        <p:blipFill>
          <a:blip r:embed="rId2"/>
          <a:stretch>
            <a:fillRect/>
          </a:stretch>
        </p:blipFill>
        <p:spPr>
          <a:xfrm>
            <a:off x="691286" y="5674766"/>
            <a:ext cx="263347" cy="263347"/>
          </a:xfrm>
          <a:prstGeom prst="rect">
            <a:avLst/>
          </a:prstGeom>
        </p:spPr>
      </p:pic>
      <p:sp>
        <p:nvSpPr>
          <p:cNvPr id="6" name="Text 2"/>
          <p:cNvSpPr txBox="1"/>
          <p:nvPr/>
        </p:nvSpPr>
        <p:spPr>
          <a:xfrm>
            <a:off x="1280160" y="5440680"/>
            <a:ext cx="2782824" cy="731520"/>
          </a:xfrm>
          <a:prstGeom prst="rect">
            <a:avLst/>
          </a:prstGeom>
          <a:noFill/>
          <a:ln/>
        </p:spPr>
        <p:txBody>
          <a:bodyPr wrap="square" lIns="0" tIns="0" rIns="0" bIns="0" rtlCol="0" anchor="ctr"/>
          <a:lstStyle/>
          <a:p>
            <a:pPr indent="0" marL="0">
              <a:buNone/>
            </a:pPr>
            <a:r>
              <a:rPr lang="en-US" sz="1400" dirty="0">
                <a:solidFill>
                  <a:schemeClr val="tx1"/>
                </a:solidFill>
              </a:rPr>
              <a:t>The coil's curvature drives two counter-rotating Dean vortices</a:t>
            </a:r>
            <a:endParaRPr lang="en-US" sz="1400" dirty="0"/>
          </a:p>
        </p:txBody>
      </p:sp>
      <p:sp>
        <p:nvSpPr>
          <p:cNvPr id="7" name="badge FaChevronRight"/>
          <p:cNvSpPr/>
          <p:nvPr/>
        </p:nvSpPr>
        <p:spPr>
          <a:xfrm>
            <a:off x="4337304" y="5532120"/>
            <a:ext cx="548640" cy="548640"/>
          </a:xfrm>
          <a:prstGeom prst="ellipse">
            <a:avLst/>
          </a:prstGeom>
          <a:solidFill>
            <a:schemeClr val="accent1"/>
          </a:solidFill>
          <a:ln/>
        </p:spPr>
      </p:sp>
      <p:pic>
        <p:nvPicPr>
          <p:cNvPr id="8" name="Image 2" descr="ChevronRight">    </p:cNvPr>
          <p:cNvPicPr>
            <a:picLocks noChangeAspect="1"/>
          </p:cNvPicPr>
          <p:nvPr/>
        </p:nvPicPr>
        <p:blipFill>
          <a:blip r:embed="rId3"/>
          <a:stretch>
            <a:fillRect/>
          </a:stretch>
        </p:blipFill>
        <p:spPr>
          <a:xfrm>
            <a:off x="4479950" y="5674766"/>
            <a:ext cx="263347" cy="263347"/>
          </a:xfrm>
          <a:prstGeom prst="rect">
            <a:avLst/>
          </a:prstGeom>
        </p:spPr>
      </p:pic>
      <p:sp>
        <p:nvSpPr>
          <p:cNvPr id="9" name="Text 4"/>
          <p:cNvSpPr txBox="1"/>
          <p:nvPr/>
        </p:nvSpPr>
        <p:spPr>
          <a:xfrm>
            <a:off x="5068824" y="5440680"/>
            <a:ext cx="2782824" cy="731520"/>
          </a:xfrm>
          <a:prstGeom prst="rect">
            <a:avLst/>
          </a:prstGeom>
          <a:noFill/>
          <a:ln/>
        </p:spPr>
        <p:txBody>
          <a:bodyPr wrap="square" lIns="0" tIns="0" rIns="0" bIns="0" rtlCol="0" anchor="ctr"/>
          <a:lstStyle/>
          <a:p>
            <a:pPr indent="0" marL="0">
              <a:buNone/>
            </a:pPr>
            <a:r>
              <a:rPr lang="en-US" sz="1400" dirty="0">
                <a:solidFill>
                  <a:schemeClr val="tx1"/>
                </a:solidFill>
              </a:rPr>
              <a:t>The fastest oil is pushed to the outer wall as De rises</a:t>
            </a:r>
            <a:endParaRPr lang="en-US" sz="1400" dirty="0"/>
          </a:p>
        </p:txBody>
      </p:sp>
      <p:sp>
        <p:nvSpPr>
          <p:cNvPr id="10" name="badge FaWater"/>
          <p:cNvSpPr/>
          <p:nvPr/>
        </p:nvSpPr>
        <p:spPr>
          <a:xfrm>
            <a:off x="8125968" y="5532120"/>
            <a:ext cx="548640" cy="548640"/>
          </a:xfrm>
          <a:prstGeom prst="ellipse">
            <a:avLst/>
          </a:prstGeom>
          <a:solidFill>
            <a:schemeClr val="accent1"/>
          </a:solidFill>
          <a:ln/>
        </p:spPr>
      </p:sp>
      <p:pic>
        <p:nvPicPr>
          <p:cNvPr id="11" name="Image 3" descr="Water">    </p:cNvPr>
          <p:cNvPicPr>
            <a:picLocks noChangeAspect="1"/>
          </p:cNvPicPr>
          <p:nvPr/>
        </p:nvPicPr>
        <p:blipFill>
          <a:blip r:embed="rId4"/>
          <a:stretch>
            <a:fillRect/>
          </a:stretch>
        </p:blipFill>
        <p:spPr>
          <a:xfrm>
            <a:off x="8268614" y="5674766"/>
            <a:ext cx="263347" cy="263347"/>
          </a:xfrm>
          <a:prstGeom prst="rect">
            <a:avLst/>
          </a:prstGeom>
        </p:spPr>
      </p:pic>
      <p:sp>
        <p:nvSpPr>
          <p:cNvPr id="12" name="Text 6"/>
          <p:cNvSpPr txBox="1"/>
          <p:nvPr/>
        </p:nvSpPr>
        <p:spPr>
          <a:xfrm>
            <a:off x="8857488" y="5440680"/>
            <a:ext cx="2782824" cy="731520"/>
          </a:xfrm>
          <a:prstGeom prst="rect">
            <a:avLst/>
          </a:prstGeom>
          <a:noFill/>
          <a:ln/>
        </p:spPr>
        <p:txBody>
          <a:bodyPr wrap="square" lIns="0" tIns="0" rIns="0" bIns="0" rtlCol="0" anchor="ctr"/>
          <a:lstStyle/>
          <a:p>
            <a:pPr indent="0" marL="0">
              <a:buNone/>
            </a:pPr>
            <a:r>
              <a:rPr lang="en-US" sz="1400" dirty="0">
                <a:solidFill>
                  <a:schemeClr val="tx1"/>
                </a:solidFill>
              </a:rPr>
              <a:t>Extra friction, but a flatter profile: inertance moves towards ideal</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Main CFD result: inertance and parasitic damping</a:t>
            </a:r>
            <a:endParaRPr lang="en-US" sz="3000" dirty="0"/>
          </a:p>
        </p:txBody>
      </p:sp>
      <p:pic>
        <p:nvPicPr>
          <p:cNvPr id="3" name="Image 0" descr="Effective inertance and damping against frequency">    </p:cNvPr>
          <p:cNvPicPr>
            <a:picLocks noChangeAspect="1"/>
          </p:cNvPicPr>
          <p:nvPr/>
        </p:nvPicPr>
        <p:blipFill>
          <a:blip r:embed="rId1"/>
          <a:stretch>
            <a:fillRect/>
          </a:stretch>
        </p:blipFill>
        <p:spPr>
          <a:xfrm>
            <a:off x="1006797" y="1234440"/>
            <a:ext cx="10175358" cy="3977640"/>
          </a:xfrm>
          <a:prstGeom prst="rect">
            <a:avLst/>
          </a:prstGeom>
        </p:spPr>
      </p:pic>
      <p:sp>
        <p:nvSpPr>
          <p:cNvPr id="4" name="cfd stat 1"/>
          <p:cNvSpPr/>
          <p:nvPr/>
        </p:nvSpPr>
        <p:spPr>
          <a:xfrm>
            <a:off x="548640" y="5349240"/>
            <a:ext cx="5408676" cy="868680"/>
          </a:xfrm>
          <a:prstGeom prst="roundRect">
            <a:avLst>
              <a:gd name="adj" fmla="val 8421"/>
            </a:avLst>
          </a:prstGeom>
          <a:solidFill>
            <a:schemeClr val="bg2"/>
          </a:solidFill>
          <a:ln/>
        </p:spPr>
      </p:sp>
      <p:sp>
        <p:nvSpPr>
          <p:cNvPr id="5" name="Text 2"/>
          <p:cNvSpPr txBox="1"/>
          <p:nvPr/>
        </p:nvSpPr>
        <p:spPr>
          <a:xfrm>
            <a:off x="777240" y="5349240"/>
            <a:ext cx="2377440" cy="868680"/>
          </a:xfrm>
          <a:prstGeom prst="rect">
            <a:avLst/>
          </a:prstGeom>
          <a:noFill/>
          <a:ln/>
        </p:spPr>
        <p:txBody>
          <a:bodyPr wrap="square" lIns="0" tIns="0" rIns="0" bIns="0" rtlCol="0" anchor="ctr"/>
          <a:lstStyle/>
          <a:p>
            <a:pPr indent="0" marL="0">
              <a:buNone/>
            </a:pPr>
            <a:r>
              <a:rPr lang="en-US" sz="2000" b="1" dirty="0">
                <a:solidFill>
                  <a:schemeClr val="accent1"/>
                </a:solidFill>
              </a:rPr>
              <a:t>1.02–1.26 × ideal</a:t>
            </a:r>
            <a:endParaRPr lang="en-US" sz="2000" dirty="0"/>
          </a:p>
        </p:txBody>
      </p:sp>
      <p:sp>
        <p:nvSpPr>
          <p:cNvPr id="6" name="Text 3"/>
          <p:cNvSpPr txBox="1"/>
          <p:nvPr/>
        </p:nvSpPr>
        <p:spPr>
          <a:xfrm>
            <a:off x="3200400" y="5349240"/>
            <a:ext cx="2574036" cy="868680"/>
          </a:xfrm>
          <a:prstGeom prst="rect">
            <a:avLst/>
          </a:prstGeom>
          <a:noFill/>
          <a:ln/>
        </p:spPr>
        <p:txBody>
          <a:bodyPr wrap="square" lIns="0" tIns="0" rIns="0" bIns="0" rtlCol="0" anchor="ctr"/>
          <a:lstStyle/>
          <a:p>
            <a:pPr indent="0" marL="0">
              <a:buNone/>
            </a:pPr>
            <a:r>
              <a:rPr lang="en-US" sz="1400" dirty="0">
                <a:solidFill>
                  <a:schemeClr val="tx2"/>
                </a:solidFill>
              </a:rPr>
              <a:t>Effective inertance (straight pipe: 1.22–1.33 ×)</a:t>
            </a:r>
            <a:endParaRPr lang="en-US" sz="1400" dirty="0"/>
          </a:p>
        </p:txBody>
      </p:sp>
      <p:sp>
        <p:nvSpPr>
          <p:cNvPr id="7" name="cfd stat 2"/>
          <p:cNvSpPr/>
          <p:nvPr/>
        </p:nvSpPr>
        <p:spPr>
          <a:xfrm>
            <a:off x="6231636" y="5349240"/>
            <a:ext cx="5408676" cy="868680"/>
          </a:xfrm>
          <a:prstGeom prst="roundRect">
            <a:avLst>
              <a:gd name="adj" fmla="val 8421"/>
            </a:avLst>
          </a:prstGeom>
          <a:solidFill>
            <a:schemeClr val="bg2"/>
          </a:solidFill>
          <a:ln/>
        </p:spPr>
      </p:sp>
      <p:sp>
        <p:nvSpPr>
          <p:cNvPr id="8" name="Text 5"/>
          <p:cNvSpPr txBox="1"/>
          <p:nvPr/>
        </p:nvSpPr>
        <p:spPr>
          <a:xfrm>
            <a:off x="6460236" y="5349240"/>
            <a:ext cx="2377440" cy="868680"/>
          </a:xfrm>
          <a:prstGeom prst="rect">
            <a:avLst/>
          </a:prstGeom>
          <a:noFill/>
          <a:ln/>
        </p:spPr>
        <p:txBody>
          <a:bodyPr wrap="square" lIns="0" tIns="0" rIns="0" bIns="0" rtlCol="0" anchor="ctr"/>
          <a:lstStyle/>
          <a:p>
            <a:pPr indent="0" marL="0">
              <a:buNone/>
            </a:pPr>
            <a:r>
              <a:rPr lang="en-US" sz="2000" b="1" dirty="0">
                <a:solidFill>
                  <a:schemeClr val="accent1"/>
                </a:solidFill>
              </a:rPr>
              <a:t>1.1–3.2 × straight pipe</a:t>
            </a:r>
            <a:endParaRPr lang="en-US" sz="2000" dirty="0"/>
          </a:p>
        </p:txBody>
      </p:sp>
      <p:sp>
        <p:nvSpPr>
          <p:cNvPr id="9" name="Text 6"/>
          <p:cNvSpPr txBox="1"/>
          <p:nvPr/>
        </p:nvSpPr>
        <p:spPr>
          <a:xfrm>
            <a:off x="8883396" y="5349240"/>
            <a:ext cx="2574036" cy="868680"/>
          </a:xfrm>
          <a:prstGeom prst="rect">
            <a:avLst/>
          </a:prstGeom>
          <a:noFill/>
          <a:ln/>
        </p:spPr>
        <p:txBody>
          <a:bodyPr wrap="square" lIns="0" tIns="0" rIns="0" bIns="0" rtlCol="0" anchor="ctr"/>
          <a:lstStyle/>
          <a:p>
            <a:pPr indent="0" marL="0">
              <a:buNone/>
            </a:pPr>
            <a:r>
              <a:rPr lang="en-US" sz="1400" dirty="0">
                <a:solidFill>
                  <a:schemeClr val="tx2"/>
                </a:solidFill>
              </a:rPr>
              <a:t>Parasitic damping (quasi-steady correlation: within ≈ 4 %)</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Piston chamber and ports: bigger losses than textbooks</a:t>
            </a:r>
            <a:endParaRPr lang="en-US" sz="3000" dirty="0"/>
          </a:p>
        </p:txBody>
      </p:sp>
      <p:pic>
        <p:nvPicPr>
          <p:cNvPr id="3" name="Image 0" descr="Port loss coefficients against Reynolds number">    </p:cNvPr>
          <p:cNvPicPr>
            <a:picLocks noChangeAspect="1"/>
          </p:cNvPicPr>
          <p:nvPr/>
        </p:nvPicPr>
        <p:blipFill>
          <a:blip r:embed="rId1"/>
          <a:stretch>
            <a:fillRect/>
          </a:stretch>
        </p:blipFill>
        <p:spPr>
          <a:xfrm>
            <a:off x="548640" y="1598930"/>
            <a:ext cx="5669280" cy="3385820"/>
          </a:xfrm>
          <a:prstGeom prst="rect">
            <a:avLst/>
          </a:prstGeom>
        </p:spPr>
      </p:pic>
      <p:sp>
        <p:nvSpPr>
          <p:cNvPr id="4" name="Text 1"/>
          <p:cNvSpPr txBox="1"/>
          <p:nvPr/>
        </p:nvSpPr>
        <p:spPr>
          <a:xfrm>
            <a:off x="548640" y="5076190"/>
            <a:ext cx="5669280" cy="274320"/>
          </a:xfrm>
          <a:prstGeom prst="rect">
            <a:avLst/>
          </a:prstGeom>
          <a:noFill/>
          <a:ln/>
        </p:spPr>
        <p:txBody>
          <a:bodyPr wrap="square" lIns="0" tIns="0" rIns="0" bIns="0" rtlCol="0" anchor="ctr"/>
          <a:lstStyle/>
          <a:p>
            <a:pPr indent="0" marL="0">
              <a:buNone/>
            </a:pPr>
            <a:r>
              <a:rPr lang="en-US" sz="1100" i="1" dirty="0">
                <a:solidFill>
                  <a:schemeClr val="accent3"/>
                </a:solidFill>
              </a:rPr>
              <a:t>Axisymmetric CFD of the chamber and port; two meshes agree within 0–6 %</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0" y="1371600"/>
          <a:ext cx="5056632" cy="914400"/>
        </p:xfrm>
        <a:graphic>
          <a:graphicData uri="http://schemas.openxmlformats.org/drawingml/2006/table">
            <a:tbl>
              <a:tblPr/>
              <a:tblGrid>
                <a:gridCol w="1783080"/>
                <a:gridCol w="914400"/>
                <a:gridCol w="1051560"/>
                <a:gridCol w="1307592"/>
              </a:tblGrid>
              <a:tr h="411480">
                <a:tc>
                  <a:txBody>
                    <a:bodyPr/>
                    <a:lstStyle/>
                    <a:p>
                      <a:pPr indent="0" marL="0">
                        <a:buNone/>
                      </a:pPr>
                      <a:r>
                        <a:rPr lang="en-US" sz="1300" b="1" dirty="0">
                          <a:solidFill>
                            <a:srgbClr val="FFFFFF"/>
                          </a:solidFill>
                        </a:rPr>
                        <a:t>Loss coefficient K</a:t>
                      </a:r>
                      <a:endParaRPr lang="en-US" sz="13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B1F24"/>
                    </a:solidFill>
                  </a:tcPr>
                </a:tc>
                <a:tc>
                  <a:txBody>
                    <a:bodyPr/>
                    <a:lstStyle/>
                    <a:p>
                      <a:pPr algn="ctr" indent="0" marL="0">
                        <a:buNone/>
                      </a:pPr>
                      <a:r>
                        <a:rPr lang="en-US" sz="1300" b="1" dirty="0">
                          <a:solidFill>
                            <a:srgbClr val="FFFFFF"/>
                          </a:solidFill>
                        </a:rPr>
                        <a:t>Textbook</a:t>
                      </a:r>
                      <a:endParaRPr lang="en-US" sz="13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B1F24"/>
                    </a:solidFill>
                  </a:tcPr>
                </a:tc>
                <a:tc>
                  <a:txBody>
                    <a:bodyPr/>
                    <a:lstStyle/>
                    <a:p>
                      <a:pPr algn="ctr" indent="0" marL="0">
                        <a:buNone/>
                      </a:pPr>
                      <a:r>
                        <a:rPr lang="en-US" sz="1300" b="1" dirty="0">
                          <a:solidFill>
                            <a:srgbClr val="FFFFFF"/>
                          </a:solidFill>
                        </a:rPr>
                        <a:t>2D port</a:t>
                      </a:r>
                      <a:endParaRPr lang="en-US" sz="13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B1F24"/>
                    </a:solidFill>
                  </a:tcPr>
                </a:tc>
                <a:tc>
                  <a:txBody>
                    <a:bodyPr/>
                    <a:lstStyle/>
                    <a:p>
                      <a:pPr algn="ctr" indent="0" marL="0">
                        <a:buNone/>
                      </a:pPr>
                      <a:r>
                        <a:rPr lang="en-US" sz="1300" b="1" dirty="0">
                          <a:solidFill>
                            <a:srgbClr val="FFFFFF"/>
                          </a:solidFill>
                        </a:rPr>
                        <a:t>3D drilled port</a:t>
                      </a:r>
                      <a:endParaRPr lang="en-US" sz="13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B1F24"/>
                    </a:solidFill>
                  </a:tcPr>
                </a:tc>
              </a:tr>
              <a:tr h="411480">
                <a:tc>
                  <a:txBody>
                    <a:bodyPr/>
                    <a:lstStyle/>
                    <a:p>
                      <a:pPr indent="0" marL="0">
                        <a:buNone/>
                      </a:pPr>
                      <a:r>
                        <a:rPr lang="en-US" sz="1400" dirty="0">
                          <a:solidFill>
                            <a:srgbClr val="1B1F24"/>
                          </a:solidFill>
                        </a:rPr>
                        <a:t>Entry, K_in</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24"/>
                          </a:solidFill>
                        </a:rPr>
                        <a:t>0.5</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24"/>
                          </a:solidFill>
                        </a:rPr>
                        <a:t>0.32–0.54</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2581B"/>
                          </a:solidFill>
                        </a:rPr>
                        <a:t>≈ 2.6</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B1F24"/>
                          </a:solidFill>
                        </a:rPr>
                        <a:t>Exit, K_out</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24"/>
                          </a:solidFill>
                        </a:rPr>
                        <a:t>1.0</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24"/>
                          </a:solidFill>
                        </a:rPr>
                        <a:t>1.89–1.95</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2581B"/>
                          </a:solidFill>
                        </a:rPr>
                        <a:t>≈ 3.8</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1B1F24"/>
                          </a:solidFill>
                        </a:rPr>
                        <a:t>Total (velocity heads)</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24"/>
                          </a:solidFill>
                        </a:rPr>
                        <a:t>1.5</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24"/>
                          </a:solidFill>
                        </a:rPr>
                        <a:t>≈ 2.3</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2581B"/>
                          </a:solidFill>
                        </a:rPr>
                        <a:t>≈ 6.4</a:t>
                      </a:r>
                      <a:endParaRPr lang="en-US" sz="1400" dirty="0"/>
                    </a:p>
                  </a:txBody>
                  <a:tcPr marL="54864" marR="54864" marT="54864" marB="54864"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583680" y="3246120"/>
            <a:ext cx="5056632"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Laminar oil leaves the channel with a peaked profile (α ≈ 2): exit loss ≈ 1.9, not 1.0</a:t>
            </a:r>
            <a:endParaRPr lang="en-US" sz="1400" dirty="0"/>
          </a:p>
          <a:p>
            <a:pPr marL="342900" indent="-342900">
              <a:spcAft>
                <a:spcPts val="800"/>
              </a:spcAft>
              <a:buSzPct val="100000"/>
              <a:buChar char="•"/>
            </a:pPr>
            <a:r>
              <a:rPr lang="en-US" sz="1400" dirty="0">
                <a:solidFill>
                  <a:schemeClr val="tx1"/>
                </a:solidFill>
              </a:rPr>
              <a:t>Each sharp 90° drilled elbow costs about one extra velocity head</a:t>
            </a:r>
            <a:endParaRPr lang="en-US" sz="1400" dirty="0"/>
          </a:p>
          <a:p>
            <a:pPr marL="342900" indent="-342900">
              <a:spcAft>
                <a:spcPts val="800"/>
              </a:spcAft>
              <a:buSzPct val="100000"/>
              <a:buChar char="•"/>
            </a:pPr>
            <a:r>
              <a:rPr lang="en-US" sz="1400" dirty="0">
                <a:solidFill>
                  <a:schemeClr val="tx1"/>
                </a:solidFill>
              </a:rPr>
              <a:t>Chambers add +7.4 % damping at 10 Hz; quarter-car grip still 5.0 %</a:t>
            </a:r>
            <a:endParaRPr lang="en-US" sz="1400" dirty="0"/>
          </a:p>
        </p:txBody>
      </p:sp>
      <p:sp>
        <p:nvSpPr>
          <p:cNvPr id="7" name="design lesson card"/>
          <p:cNvSpPr/>
          <p:nvPr/>
        </p:nvSpPr>
        <p:spPr>
          <a:xfrm>
            <a:off x="6583680" y="5257800"/>
            <a:ext cx="5056632" cy="960120"/>
          </a:xfrm>
          <a:prstGeom prst="roundRect">
            <a:avLst>
              <a:gd name="adj" fmla="val 7619"/>
            </a:avLst>
          </a:prstGeom>
          <a:solidFill>
            <a:schemeClr val="tx1"/>
          </a:solidFill>
          <a:ln/>
        </p:spPr>
      </p:sp>
      <p:sp>
        <p:nvSpPr>
          <p:cNvPr id="8" name="badge FaWrench"/>
          <p:cNvSpPr/>
          <p:nvPr/>
        </p:nvSpPr>
        <p:spPr>
          <a:xfrm>
            <a:off x="6812280" y="5458968"/>
            <a:ext cx="548640" cy="548640"/>
          </a:xfrm>
          <a:prstGeom prst="ellipse">
            <a:avLst/>
          </a:prstGeom>
          <a:solidFill>
            <a:schemeClr val="accent1"/>
          </a:solidFill>
          <a:ln/>
        </p:spPr>
      </p:sp>
      <p:pic>
        <p:nvPicPr>
          <p:cNvPr id="9" name="Image 1" descr="Wrench">    </p:cNvPr>
          <p:cNvPicPr>
            <a:picLocks noChangeAspect="1"/>
          </p:cNvPicPr>
          <p:nvPr/>
        </p:nvPicPr>
        <p:blipFill>
          <a:blip r:embed="rId2"/>
          <a:stretch>
            <a:fillRect/>
          </a:stretch>
        </p:blipFill>
        <p:spPr>
          <a:xfrm>
            <a:off x="6954926" y="5601614"/>
            <a:ext cx="263347" cy="263347"/>
          </a:xfrm>
          <a:prstGeom prst="rect">
            <a:avLst/>
          </a:prstGeom>
        </p:spPr>
      </p:pic>
      <p:sp>
        <p:nvSpPr>
          <p:cNvPr id="10" name="Text 5"/>
          <p:cNvSpPr txBox="1"/>
          <p:nvPr/>
        </p:nvSpPr>
        <p:spPr>
          <a:xfrm>
            <a:off x="7543800" y="5257800"/>
            <a:ext cx="3931920" cy="960120"/>
          </a:xfrm>
          <a:prstGeom prst="rect">
            <a:avLst/>
          </a:prstGeom>
          <a:noFill/>
          <a:ln/>
        </p:spPr>
        <p:txBody>
          <a:bodyPr wrap="square" lIns="0" tIns="0" rIns="0" bIns="0" rtlCol="0" anchor="ctr"/>
          <a:lstStyle/>
          <a:p>
            <a:pPr indent="0" marL="0">
              <a:buNone/>
            </a:pPr>
            <a:r>
              <a:rPr lang="en-US" sz="1600" b="1" dirty="0">
                <a:solidFill>
                  <a:schemeClr val="accent1"/>
                </a:solidFill>
              </a:rPr>
              <a:t>Design lesson:  </a:t>
            </a:r>
            <a:pPr indent="0" marL="0">
              <a:buNone/>
            </a:pPr>
            <a:r>
              <a:rPr lang="en-US" sz="1600" b="1" dirty="0">
                <a:solidFill>
                  <a:schemeClr val="bg1"/>
                </a:solidFill>
              </a:rPr>
              <a:t>radius the drilled passages</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Cavitation: how much pre-charge is needed?</a:t>
            </a:r>
            <a:endParaRPr lang="en-US" sz="3000" dirty="0"/>
          </a:p>
        </p:txBody>
      </p:sp>
      <p:pic>
        <p:nvPicPr>
          <p:cNvPr id="3" name="Image 0" descr="Vapour volume over time and minimum chamber pressure against charge pressure">    </p:cNvPr>
          <p:cNvPicPr>
            <a:picLocks noChangeAspect="1"/>
          </p:cNvPicPr>
          <p:nvPr/>
        </p:nvPicPr>
        <p:blipFill>
          <a:blip r:embed="rId1"/>
          <a:stretch>
            <a:fillRect/>
          </a:stretch>
        </p:blipFill>
        <p:spPr>
          <a:xfrm>
            <a:off x="1185019" y="1234440"/>
            <a:ext cx="9818914" cy="3749040"/>
          </a:xfrm>
          <a:prstGeom prst="rect">
            <a:avLst/>
          </a:prstGeom>
        </p:spPr>
      </p:pic>
      <p:sp>
        <p:nvSpPr>
          <p:cNvPr id="4" name="cavitation stat 1"/>
          <p:cNvSpPr/>
          <p:nvPr/>
        </p:nvSpPr>
        <p:spPr>
          <a:xfrm>
            <a:off x="548640" y="5166360"/>
            <a:ext cx="3514344" cy="1051560"/>
          </a:xfrm>
          <a:prstGeom prst="roundRect">
            <a:avLst>
              <a:gd name="adj" fmla="val 6957"/>
            </a:avLst>
          </a:prstGeom>
          <a:solidFill>
            <a:schemeClr val="bg2"/>
          </a:solidFill>
          <a:ln/>
        </p:spPr>
      </p:sp>
      <p:sp>
        <p:nvSpPr>
          <p:cNvPr id="5" name="Text 2"/>
          <p:cNvSpPr txBox="1"/>
          <p:nvPr/>
        </p:nvSpPr>
        <p:spPr>
          <a:xfrm>
            <a:off x="731520" y="5166360"/>
            <a:ext cx="1508760" cy="1051560"/>
          </a:xfrm>
          <a:prstGeom prst="rect">
            <a:avLst/>
          </a:prstGeom>
          <a:noFill/>
          <a:ln/>
        </p:spPr>
        <p:txBody>
          <a:bodyPr wrap="square" lIns="0" tIns="0" rIns="0" bIns="0" rtlCol="0" anchor="ctr"/>
          <a:lstStyle/>
          <a:p>
            <a:pPr indent="0" marL="0">
              <a:buNone/>
            </a:pPr>
            <a:r>
              <a:rPr lang="en-US" sz="2000" b="1" dirty="0">
                <a:solidFill>
                  <a:schemeClr val="accent1"/>
                </a:solidFill>
              </a:rPr>
              <a:t>≈ 1.75 MPa</a:t>
            </a:r>
            <a:endParaRPr lang="en-US" sz="2000" dirty="0"/>
          </a:p>
        </p:txBody>
      </p:sp>
      <p:sp>
        <p:nvSpPr>
          <p:cNvPr id="6" name="Text 3"/>
          <p:cNvSpPr txBox="1"/>
          <p:nvPr/>
        </p:nvSpPr>
        <p:spPr>
          <a:xfrm>
            <a:off x="2286000" y="5166360"/>
            <a:ext cx="1594104" cy="1051560"/>
          </a:xfrm>
          <a:prstGeom prst="rect">
            <a:avLst/>
          </a:prstGeom>
          <a:noFill/>
          <a:ln/>
        </p:spPr>
        <p:txBody>
          <a:bodyPr wrap="square" lIns="0" tIns="0" rIns="0" bIns="0" rtlCol="0" anchor="ctr"/>
          <a:lstStyle/>
          <a:p>
            <a:pPr indent="0" marL="0">
              <a:buNone/>
            </a:pPr>
            <a:r>
              <a:rPr lang="en-US" sz="1400" dirty="0">
                <a:solidFill>
                  <a:schemeClr val="tx2"/>
                </a:solidFill>
              </a:rPr>
              <a:t>CFD onset; hand calculation Δp/2 gives 1.73 MPa</a:t>
            </a:r>
            <a:endParaRPr lang="en-US" sz="1400" dirty="0"/>
          </a:p>
        </p:txBody>
      </p:sp>
      <p:sp>
        <p:nvSpPr>
          <p:cNvPr id="7" name="cavitation stat 2"/>
          <p:cNvSpPr/>
          <p:nvPr/>
        </p:nvSpPr>
        <p:spPr>
          <a:xfrm>
            <a:off x="4337304" y="5166360"/>
            <a:ext cx="3514344" cy="1051560"/>
          </a:xfrm>
          <a:prstGeom prst="roundRect">
            <a:avLst>
              <a:gd name="adj" fmla="val 6957"/>
            </a:avLst>
          </a:prstGeom>
          <a:solidFill>
            <a:schemeClr val="bg2"/>
          </a:solidFill>
          <a:ln/>
        </p:spPr>
      </p:sp>
      <p:sp>
        <p:nvSpPr>
          <p:cNvPr id="8" name="Text 5"/>
          <p:cNvSpPr txBox="1"/>
          <p:nvPr/>
        </p:nvSpPr>
        <p:spPr>
          <a:xfrm>
            <a:off x="4520184" y="5166360"/>
            <a:ext cx="1508760" cy="1051560"/>
          </a:xfrm>
          <a:prstGeom prst="rect">
            <a:avLst/>
          </a:prstGeom>
          <a:noFill/>
          <a:ln/>
        </p:spPr>
        <p:txBody>
          <a:bodyPr wrap="square" lIns="0" tIns="0" rIns="0" bIns="0" rtlCol="0" anchor="ctr"/>
          <a:lstStyle/>
          <a:p>
            <a:pPr indent="0" marL="0">
              <a:buNone/>
            </a:pPr>
            <a:r>
              <a:rPr lang="en-US" sz="2000" b="1" dirty="0">
                <a:solidFill>
                  <a:schemeClr val="accent1"/>
                </a:solidFill>
              </a:rPr>
              <a:t>up to 28 %</a:t>
            </a:r>
            <a:endParaRPr lang="en-US" sz="2000" dirty="0"/>
          </a:p>
        </p:txBody>
      </p:sp>
      <p:sp>
        <p:nvSpPr>
          <p:cNvPr id="9" name="Text 6"/>
          <p:cNvSpPr txBox="1"/>
          <p:nvPr/>
        </p:nvSpPr>
        <p:spPr>
          <a:xfrm>
            <a:off x="6074664" y="5166360"/>
            <a:ext cx="1594104" cy="1051560"/>
          </a:xfrm>
          <a:prstGeom prst="rect">
            <a:avLst/>
          </a:prstGeom>
          <a:noFill/>
          <a:ln/>
        </p:spPr>
        <p:txBody>
          <a:bodyPr wrap="square" lIns="0" tIns="0" rIns="0" bIns="0" rtlCol="0" anchor="ctr"/>
          <a:lstStyle/>
          <a:p>
            <a:pPr indent="0" marL="0">
              <a:buNone/>
            </a:pPr>
            <a:r>
              <a:rPr lang="en-US" sz="1400" dirty="0">
                <a:solidFill>
                  <a:schemeClr val="tx2"/>
                </a:solidFill>
              </a:rPr>
              <a:t>of chamber volume is vapour at 0.5–1.5 MPa</a:t>
            </a:r>
            <a:endParaRPr lang="en-US" sz="1400" dirty="0"/>
          </a:p>
        </p:txBody>
      </p:sp>
      <p:sp>
        <p:nvSpPr>
          <p:cNvPr id="10" name="cavitation stat 3"/>
          <p:cNvSpPr/>
          <p:nvPr/>
        </p:nvSpPr>
        <p:spPr>
          <a:xfrm>
            <a:off x="8125968" y="5166360"/>
            <a:ext cx="3514344" cy="1051560"/>
          </a:xfrm>
          <a:prstGeom prst="roundRect">
            <a:avLst>
              <a:gd name="adj" fmla="val 6957"/>
            </a:avLst>
          </a:prstGeom>
          <a:solidFill>
            <a:schemeClr val="bg2"/>
          </a:solidFill>
          <a:ln/>
        </p:spPr>
      </p:sp>
      <p:sp>
        <p:nvSpPr>
          <p:cNvPr id="11" name="Text 8"/>
          <p:cNvSpPr txBox="1"/>
          <p:nvPr/>
        </p:nvSpPr>
        <p:spPr>
          <a:xfrm>
            <a:off x="8308848" y="5166360"/>
            <a:ext cx="1508760" cy="1051560"/>
          </a:xfrm>
          <a:prstGeom prst="rect">
            <a:avLst/>
          </a:prstGeom>
          <a:noFill/>
          <a:ln/>
        </p:spPr>
        <p:txBody>
          <a:bodyPr wrap="square" lIns="0" tIns="0" rIns="0" bIns="0" rtlCol="0" anchor="ctr"/>
          <a:lstStyle/>
          <a:p>
            <a:pPr indent="0" marL="0">
              <a:buNone/>
            </a:pPr>
            <a:r>
              <a:rPr lang="en-US" sz="2000" b="1" dirty="0">
                <a:solidFill>
                  <a:schemeClr val="accent1"/>
                </a:solidFill>
              </a:rPr>
              <a:t>≥ 2.0 MPa</a:t>
            </a:r>
            <a:endParaRPr lang="en-US" sz="2000" dirty="0"/>
          </a:p>
        </p:txBody>
      </p:sp>
      <p:sp>
        <p:nvSpPr>
          <p:cNvPr id="12" name="Text 9"/>
          <p:cNvSpPr txBox="1"/>
          <p:nvPr/>
        </p:nvSpPr>
        <p:spPr>
          <a:xfrm>
            <a:off x="9863328" y="5166360"/>
            <a:ext cx="1594104" cy="1051560"/>
          </a:xfrm>
          <a:prstGeom prst="rect">
            <a:avLst/>
          </a:prstGeom>
          <a:noFill/>
          <a:ln/>
        </p:spPr>
        <p:txBody>
          <a:bodyPr wrap="square" lIns="0" tIns="0" rIns="0" bIns="0" rtlCol="0" anchor="ctr"/>
          <a:lstStyle/>
          <a:p>
            <a:pPr indent="0" marL="0">
              <a:buNone/>
            </a:pPr>
            <a:r>
              <a:rPr lang="en-US" sz="1400" dirty="0">
                <a:solidFill>
                  <a:schemeClr val="tx2"/>
                </a:solidFill>
              </a:rPr>
              <a:t>pre-charge: no vapour forms at all</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Quarter-car grip: real oil costs about 40 % of the benefit</a:t>
            </a:r>
            <a:endParaRPr lang="en-US" sz="3000" dirty="0"/>
          </a:p>
        </p:txBody>
      </p:sp>
      <p:graphicFrame>
        <p:nvGraphicFramePr>
          <p:cNvPr id="3" name="Chart 0" descr=""/>
          <p:cNvGraphicFramePr/>
          <p:nvPr/>
        </p:nvGraphicFramePr>
        <p:xfrm>
          <a:off x="548640" y="128016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grip stat card"/>
          <p:cNvSpPr/>
          <p:nvPr/>
        </p:nvSpPr>
        <p:spPr>
          <a:xfrm>
            <a:off x="7680960" y="1371600"/>
            <a:ext cx="3959352" cy="2286000"/>
          </a:xfrm>
          <a:prstGeom prst="roundRect">
            <a:avLst>
              <a:gd name="adj" fmla="val 3200"/>
            </a:avLst>
          </a:prstGeom>
          <a:solidFill>
            <a:schemeClr val="bg2"/>
          </a:solidFill>
          <a:ln/>
        </p:spPr>
      </p:sp>
      <p:sp>
        <p:nvSpPr>
          <p:cNvPr id="5" name="Text 2"/>
          <p:cNvSpPr txBox="1"/>
          <p:nvPr/>
        </p:nvSpPr>
        <p:spPr>
          <a:xfrm>
            <a:off x="7955280" y="1554480"/>
            <a:ext cx="3566160" cy="822960"/>
          </a:xfrm>
          <a:prstGeom prst="rect">
            <a:avLst/>
          </a:prstGeom>
          <a:noFill/>
          <a:ln/>
        </p:spPr>
        <p:txBody>
          <a:bodyPr wrap="square" lIns="0" tIns="0" rIns="0" bIns="0" rtlCol="0" anchor="ctr"/>
          <a:lstStyle/>
          <a:p>
            <a:pPr indent="0" marL="0">
              <a:buNone/>
            </a:pPr>
            <a:r>
              <a:rPr lang="en-US" sz="3600" b="1" dirty="0">
                <a:solidFill>
                  <a:schemeClr val="accent1"/>
                </a:solidFill>
              </a:rPr>
              <a:t>8.7 % → 5.0 %</a:t>
            </a:r>
            <a:endParaRPr lang="en-US" sz="3600" dirty="0"/>
          </a:p>
        </p:txBody>
      </p:sp>
      <p:sp>
        <p:nvSpPr>
          <p:cNvPr id="6" name="Text 3"/>
          <p:cNvSpPr txBox="1"/>
          <p:nvPr/>
        </p:nvSpPr>
        <p:spPr>
          <a:xfrm>
            <a:off x="7955280" y="2468880"/>
            <a:ext cx="3474720" cy="1005840"/>
          </a:xfrm>
          <a:prstGeom prst="rect">
            <a:avLst/>
          </a:prstGeom>
          <a:noFill/>
          <a:ln/>
        </p:spPr>
        <p:txBody>
          <a:bodyPr wrap="square" lIns="0" tIns="0" rIns="0" bIns="0" rtlCol="0" anchor="t"/>
          <a:lstStyle/>
          <a:p>
            <a:pPr indent="0" marL="0">
              <a:buNone/>
            </a:pPr>
            <a:r>
              <a:rPr lang="en-US" sz="1400" dirty="0">
                <a:solidFill>
                  <a:schemeClr val="tx2"/>
                </a:solidFill>
              </a:rPr>
              <a:t>Grip benefit: ideal inerter vs the CFD-measured fluid inerter</a:t>
            </a:r>
            <a:endParaRPr lang="en-US" sz="1400" dirty="0"/>
          </a:p>
        </p:txBody>
      </p:sp>
      <p:sp>
        <p:nvSpPr>
          <p:cNvPr id="7" name="loss stat card"/>
          <p:cNvSpPr/>
          <p:nvPr/>
        </p:nvSpPr>
        <p:spPr>
          <a:xfrm>
            <a:off x="7680960" y="3931920"/>
            <a:ext cx="3959352" cy="2286000"/>
          </a:xfrm>
          <a:prstGeom prst="roundRect">
            <a:avLst>
              <a:gd name="adj" fmla="val 3200"/>
            </a:avLst>
          </a:prstGeom>
          <a:solidFill>
            <a:schemeClr val="tx1"/>
          </a:solidFill>
          <a:ln/>
        </p:spPr>
      </p:sp>
      <p:sp>
        <p:nvSpPr>
          <p:cNvPr id="8" name="Text 5"/>
          <p:cNvSpPr txBox="1"/>
          <p:nvPr/>
        </p:nvSpPr>
        <p:spPr>
          <a:xfrm>
            <a:off x="7955280" y="4114800"/>
            <a:ext cx="3566160" cy="822960"/>
          </a:xfrm>
          <a:prstGeom prst="rect">
            <a:avLst/>
          </a:prstGeom>
          <a:noFill/>
          <a:ln/>
        </p:spPr>
        <p:txBody>
          <a:bodyPr wrap="square" lIns="0" tIns="0" rIns="0" bIns="0" rtlCol="0" anchor="ctr"/>
          <a:lstStyle/>
          <a:p>
            <a:pPr indent="0" marL="0">
              <a:buNone/>
            </a:pPr>
            <a:r>
              <a:rPr lang="en-US" sz="4400" b="1" dirty="0">
                <a:solidFill>
                  <a:schemeClr val="accent1"/>
                </a:solidFill>
              </a:rPr>
              <a:t>≈ 40 %</a:t>
            </a:r>
            <a:endParaRPr lang="en-US" sz="4400" dirty="0"/>
          </a:p>
        </p:txBody>
      </p:sp>
      <p:sp>
        <p:nvSpPr>
          <p:cNvPr id="9" name="Text 6"/>
          <p:cNvSpPr txBox="1"/>
          <p:nvPr/>
        </p:nvSpPr>
        <p:spPr>
          <a:xfrm>
            <a:off x="7955280" y="5029200"/>
            <a:ext cx="3474720" cy="1005840"/>
          </a:xfrm>
          <a:prstGeom prst="rect">
            <a:avLst/>
          </a:prstGeom>
          <a:noFill/>
          <a:ln/>
        </p:spPr>
        <p:txBody>
          <a:bodyPr wrap="square" lIns="0" tIns="0" rIns="0" bIns="0" rtlCol="0" anchor="t"/>
          <a:lstStyle/>
          <a:p>
            <a:pPr indent="0" marL="0">
              <a:buNone/>
            </a:pPr>
            <a:r>
              <a:rPr lang="en-US" sz="1400" dirty="0">
                <a:solidFill>
                  <a:schemeClr val="bg1"/>
                </a:solidFill>
              </a:rPr>
              <a:t>of the ideal grip benefit is removed by real fluid behaviour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Full car on real circuits</a:t>
            </a:r>
            <a:endParaRPr lang="en-US" sz="3000" dirty="0"/>
          </a:p>
        </p:txBody>
      </p:sp>
      <p:pic>
        <p:nvPicPr>
          <p:cNvPr id="3" name="Image 0" descr="GR Supra GT4 through Eau Rouge at Spa, animated">    </p:cNvPr>
          <p:cNvPicPr>
            <a:picLocks noChangeAspect="1"/>
          </p:cNvPicPr>
          <p:nvPr/>
        </p:nvPicPr>
        <p:blipFill>
          <a:blip r:embed="rId1"/>
          <a:stretch>
            <a:fillRect/>
          </a:stretch>
        </p:blipFill>
        <p:spPr>
          <a:xfrm>
            <a:off x="548640" y="1317041"/>
            <a:ext cx="7132320" cy="3035198"/>
          </a:xfrm>
          <a:prstGeom prst="rect">
            <a:avLst/>
          </a:prstGeom>
        </p:spPr>
      </p:pic>
      <p:sp>
        <p:nvSpPr>
          <p:cNvPr id="4" name="Text 1"/>
          <p:cNvSpPr txBox="1"/>
          <p:nvPr/>
        </p:nvSpPr>
        <p:spPr>
          <a:xfrm>
            <a:off x="548640" y="4443679"/>
            <a:ext cx="7132320" cy="274320"/>
          </a:xfrm>
          <a:prstGeom prst="rect">
            <a:avLst/>
          </a:prstGeom>
          <a:noFill/>
          <a:ln/>
        </p:spPr>
        <p:txBody>
          <a:bodyPr wrap="square" lIns="0" tIns="0" rIns="0" bIns="0" rtlCol="0" anchor="ctr"/>
          <a:lstStyle/>
          <a:p>
            <a:pPr indent="0" marL="0">
              <a:buNone/>
            </a:pPr>
            <a:r>
              <a:rPr lang="en-US" sz="1100" i="1" dirty="0">
                <a:solidFill>
                  <a:schemeClr val="accent3"/>
                </a:solidFill>
              </a:rPr>
              <a:t>GR Supra GT4 through Eau Rouge / Raidillon at Spa: +1.0 g compression at 227 km/h</a:t>
            </a:r>
            <a:endParaRPr lang="en-US" sz="1100" dirty="0"/>
          </a:p>
        </p:txBody>
      </p:sp>
      <p:sp>
        <p:nvSpPr>
          <p:cNvPr id="5" name="lap time 1"/>
          <p:cNvSpPr/>
          <p:nvPr/>
        </p:nvSpPr>
        <p:spPr>
          <a:xfrm>
            <a:off x="548640" y="4983480"/>
            <a:ext cx="3429000" cy="1234440"/>
          </a:xfrm>
          <a:prstGeom prst="roundRect">
            <a:avLst>
              <a:gd name="adj" fmla="val 5926"/>
            </a:avLst>
          </a:prstGeom>
          <a:solidFill>
            <a:schemeClr val="bg2"/>
          </a:solidFill>
          <a:ln/>
        </p:spPr>
      </p:sp>
      <p:sp>
        <p:nvSpPr>
          <p:cNvPr id="6" name="Text 3"/>
          <p:cNvSpPr txBox="1"/>
          <p:nvPr/>
        </p:nvSpPr>
        <p:spPr>
          <a:xfrm>
            <a:off x="777240" y="5074920"/>
            <a:ext cx="3017520" cy="548640"/>
          </a:xfrm>
          <a:prstGeom prst="rect">
            <a:avLst/>
          </a:prstGeom>
          <a:noFill/>
          <a:ln/>
        </p:spPr>
        <p:txBody>
          <a:bodyPr wrap="square" lIns="0" tIns="0" rIns="0" bIns="0" rtlCol="0" anchor="ctr"/>
          <a:lstStyle/>
          <a:p>
            <a:pPr indent="0" marL="0">
              <a:buNone/>
            </a:pPr>
            <a:r>
              <a:rPr lang="en-US" sz="2800" b="1" dirty="0">
                <a:solidFill>
                  <a:schemeClr val="accent1"/>
                </a:solidFill>
              </a:rPr>
              <a:t>1:54.6</a:t>
            </a:r>
            <a:endParaRPr lang="en-US" sz="2800" dirty="0"/>
          </a:p>
        </p:txBody>
      </p:sp>
      <p:sp>
        <p:nvSpPr>
          <p:cNvPr id="7" name="Text 4"/>
          <p:cNvSpPr txBox="1"/>
          <p:nvPr/>
        </p:nvSpPr>
        <p:spPr>
          <a:xfrm>
            <a:off x="777240" y="5669280"/>
            <a:ext cx="3017520" cy="411480"/>
          </a:xfrm>
          <a:prstGeom prst="rect">
            <a:avLst/>
          </a:prstGeom>
          <a:noFill/>
          <a:ln/>
        </p:spPr>
        <p:txBody>
          <a:bodyPr wrap="square" lIns="0" tIns="0" rIns="0" bIns="0" rtlCol="0" anchor="t"/>
          <a:lstStyle/>
          <a:p>
            <a:pPr indent="0" marL="0">
              <a:buNone/>
            </a:pPr>
            <a:r>
              <a:rPr lang="en-US" sz="1400" dirty="0">
                <a:solidFill>
                  <a:schemeClr val="tx2"/>
                </a:solidFill>
              </a:rPr>
              <a:t>GT4 at Monza (real pace ≈ 1:57)</a:t>
            </a:r>
            <a:endParaRPr lang="en-US" sz="1400" dirty="0"/>
          </a:p>
        </p:txBody>
      </p:sp>
      <p:sp>
        <p:nvSpPr>
          <p:cNvPr id="8" name="lap time 2"/>
          <p:cNvSpPr/>
          <p:nvPr/>
        </p:nvSpPr>
        <p:spPr>
          <a:xfrm>
            <a:off x="4251960" y="4983480"/>
            <a:ext cx="3429000" cy="1234440"/>
          </a:xfrm>
          <a:prstGeom prst="roundRect">
            <a:avLst>
              <a:gd name="adj" fmla="val 5926"/>
            </a:avLst>
          </a:prstGeom>
          <a:solidFill>
            <a:schemeClr val="bg2"/>
          </a:solidFill>
          <a:ln/>
        </p:spPr>
      </p:sp>
      <p:sp>
        <p:nvSpPr>
          <p:cNvPr id="9" name="Text 6"/>
          <p:cNvSpPr txBox="1"/>
          <p:nvPr/>
        </p:nvSpPr>
        <p:spPr>
          <a:xfrm>
            <a:off x="4480560" y="5074920"/>
            <a:ext cx="3017520" cy="548640"/>
          </a:xfrm>
          <a:prstGeom prst="rect">
            <a:avLst/>
          </a:prstGeom>
          <a:noFill/>
          <a:ln/>
        </p:spPr>
        <p:txBody>
          <a:bodyPr wrap="square" lIns="0" tIns="0" rIns="0" bIns="0" rtlCol="0" anchor="ctr"/>
          <a:lstStyle/>
          <a:p>
            <a:pPr indent="0" marL="0">
              <a:buNone/>
            </a:pPr>
            <a:r>
              <a:rPr lang="en-US" sz="2800" b="1" dirty="0">
                <a:solidFill>
                  <a:schemeClr val="accent1"/>
                </a:solidFill>
              </a:rPr>
              <a:t>2:34.9</a:t>
            </a:r>
            <a:endParaRPr lang="en-US" sz="2800" dirty="0"/>
          </a:p>
        </p:txBody>
      </p:sp>
      <p:sp>
        <p:nvSpPr>
          <p:cNvPr id="10" name="Text 7"/>
          <p:cNvSpPr txBox="1"/>
          <p:nvPr/>
        </p:nvSpPr>
        <p:spPr>
          <a:xfrm>
            <a:off x="4480560" y="5669280"/>
            <a:ext cx="3017520" cy="411480"/>
          </a:xfrm>
          <a:prstGeom prst="rect">
            <a:avLst/>
          </a:prstGeom>
          <a:noFill/>
          <a:ln/>
        </p:spPr>
        <p:txBody>
          <a:bodyPr wrap="square" lIns="0" tIns="0" rIns="0" bIns="0" rtlCol="0" anchor="t"/>
          <a:lstStyle/>
          <a:p>
            <a:pPr indent="0" marL="0">
              <a:buNone/>
            </a:pPr>
            <a:r>
              <a:rPr lang="en-US" sz="1400" dirty="0">
                <a:solidFill>
                  <a:schemeClr val="tx2"/>
                </a:solidFill>
              </a:rPr>
              <a:t>GT4 at Spa (real pace ≈ 2:30)</a:t>
            </a:r>
            <a:endParaRPr lang="en-US" sz="1400" dirty="0"/>
          </a:p>
        </p:txBody>
      </p:sp>
      <p:sp>
        <p:nvSpPr>
          <p:cNvPr id="11" name="Text 8"/>
          <p:cNvSpPr txBox="1"/>
          <p:nvPr/>
        </p:nvSpPr>
        <p:spPr>
          <a:xfrm>
            <a:off x="8138160" y="1325880"/>
            <a:ext cx="347472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VEHICLES</a:t>
            </a:r>
            <a:endParaRPr lang="en-US" sz="1200" dirty="0"/>
          </a:p>
        </p:txBody>
      </p:sp>
      <p:sp>
        <p:nvSpPr>
          <p:cNvPr id="12" name="badge FaCar"/>
          <p:cNvSpPr/>
          <p:nvPr/>
        </p:nvSpPr>
        <p:spPr>
          <a:xfrm>
            <a:off x="8138160" y="1737360"/>
            <a:ext cx="457200" cy="457200"/>
          </a:xfrm>
          <a:prstGeom prst="ellipse">
            <a:avLst/>
          </a:prstGeom>
          <a:solidFill>
            <a:schemeClr val="accent1"/>
          </a:solidFill>
          <a:ln/>
        </p:spPr>
      </p:sp>
      <p:pic>
        <p:nvPicPr>
          <p:cNvPr id="13" name="Image 1" descr="Car">    </p:cNvPr>
          <p:cNvPicPr>
            <a:picLocks noChangeAspect="1"/>
          </p:cNvPicPr>
          <p:nvPr/>
        </p:nvPicPr>
        <p:blipFill>
          <a:blip r:embed="rId2"/>
          <a:stretch>
            <a:fillRect/>
          </a:stretch>
        </p:blipFill>
        <p:spPr>
          <a:xfrm>
            <a:off x="8257032" y="1856232"/>
            <a:ext cx="219456" cy="219456"/>
          </a:xfrm>
          <a:prstGeom prst="rect">
            <a:avLst/>
          </a:prstGeom>
        </p:spPr>
      </p:pic>
      <p:sp>
        <p:nvSpPr>
          <p:cNvPr id="14" name="Text 10"/>
          <p:cNvSpPr txBox="1"/>
          <p:nvPr/>
        </p:nvSpPr>
        <p:spPr>
          <a:xfrm>
            <a:off x="8732520" y="1737360"/>
            <a:ext cx="2926080" cy="457200"/>
          </a:xfrm>
          <a:prstGeom prst="rect">
            <a:avLst/>
          </a:prstGeom>
          <a:noFill/>
          <a:ln/>
        </p:spPr>
        <p:txBody>
          <a:bodyPr wrap="square" lIns="0" tIns="0" rIns="0" bIns="0" rtlCol="0" anchor="ctr"/>
          <a:lstStyle/>
          <a:p>
            <a:pPr indent="0" marL="0">
              <a:buNone/>
            </a:pPr>
            <a:r>
              <a:rPr lang="en-US" sz="1400" dirty="0">
                <a:solidFill>
                  <a:schemeClr val="tx1"/>
                </a:solidFill>
              </a:rPr>
              <a:t>Toyota GR Supra (road car)</a:t>
            </a:r>
            <a:endParaRPr lang="en-US" sz="1400" dirty="0"/>
          </a:p>
        </p:txBody>
      </p:sp>
      <p:sp>
        <p:nvSpPr>
          <p:cNvPr id="15" name="badge FaFlagCheckered"/>
          <p:cNvSpPr/>
          <p:nvPr/>
        </p:nvSpPr>
        <p:spPr>
          <a:xfrm>
            <a:off x="8138160" y="2331720"/>
            <a:ext cx="457200" cy="457200"/>
          </a:xfrm>
          <a:prstGeom prst="ellipse">
            <a:avLst/>
          </a:prstGeom>
          <a:solidFill>
            <a:schemeClr val="accent1"/>
          </a:solidFill>
          <a:ln/>
        </p:spPr>
      </p:sp>
      <p:pic>
        <p:nvPicPr>
          <p:cNvPr id="16" name="Image 2" descr="FlagCheckered">    </p:cNvPr>
          <p:cNvPicPr>
            <a:picLocks noChangeAspect="1"/>
          </p:cNvPicPr>
          <p:nvPr/>
        </p:nvPicPr>
        <p:blipFill>
          <a:blip r:embed="rId3"/>
          <a:stretch>
            <a:fillRect/>
          </a:stretch>
        </p:blipFill>
        <p:spPr>
          <a:xfrm>
            <a:off x="8257032" y="2450592"/>
            <a:ext cx="219456" cy="219456"/>
          </a:xfrm>
          <a:prstGeom prst="rect">
            <a:avLst/>
          </a:prstGeom>
        </p:spPr>
      </p:pic>
      <p:sp>
        <p:nvSpPr>
          <p:cNvPr id="17" name="Text 12"/>
          <p:cNvSpPr txBox="1"/>
          <p:nvPr/>
        </p:nvSpPr>
        <p:spPr>
          <a:xfrm>
            <a:off x="8732520" y="2331720"/>
            <a:ext cx="2926080" cy="457200"/>
          </a:xfrm>
          <a:prstGeom prst="rect">
            <a:avLst/>
          </a:prstGeom>
          <a:noFill/>
          <a:ln/>
        </p:spPr>
        <p:txBody>
          <a:bodyPr wrap="square" lIns="0" tIns="0" rIns="0" bIns="0" rtlCol="0" anchor="ctr"/>
          <a:lstStyle/>
          <a:p>
            <a:pPr indent="0" marL="0">
              <a:buNone/>
            </a:pPr>
            <a:r>
              <a:rPr lang="en-US" sz="1400" dirty="0">
                <a:solidFill>
                  <a:schemeClr val="tx1"/>
                </a:solidFill>
              </a:rPr>
              <a:t>GR Supra GT4 (race car)</a:t>
            </a:r>
            <a:endParaRPr lang="en-US" sz="1400" dirty="0"/>
          </a:p>
        </p:txBody>
      </p:sp>
      <p:sp>
        <p:nvSpPr>
          <p:cNvPr id="18" name="badge FaTruckPickup"/>
          <p:cNvSpPr/>
          <p:nvPr/>
        </p:nvSpPr>
        <p:spPr>
          <a:xfrm>
            <a:off x="8138160" y="2926080"/>
            <a:ext cx="457200" cy="457200"/>
          </a:xfrm>
          <a:prstGeom prst="ellipse">
            <a:avLst/>
          </a:prstGeom>
          <a:solidFill>
            <a:schemeClr val="accent1"/>
          </a:solidFill>
          <a:ln/>
        </p:spPr>
      </p:sp>
      <p:pic>
        <p:nvPicPr>
          <p:cNvPr id="19" name="Image 3" descr="TruckPickup">    </p:cNvPr>
          <p:cNvPicPr>
            <a:picLocks noChangeAspect="1"/>
          </p:cNvPicPr>
          <p:nvPr/>
        </p:nvPicPr>
        <p:blipFill>
          <a:blip r:embed="rId4"/>
          <a:stretch>
            <a:fillRect/>
          </a:stretch>
        </p:blipFill>
        <p:spPr>
          <a:xfrm>
            <a:off x="8257032" y="3044952"/>
            <a:ext cx="219456" cy="219456"/>
          </a:xfrm>
          <a:prstGeom prst="rect">
            <a:avLst/>
          </a:prstGeom>
        </p:spPr>
      </p:pic>
      <p:sp>
        <p:nvSpPr>
          <p:cNvPr id="20" name="Text 14"/>
          <p:cNvSpPr txBox="1"/>
          <p:nvPr/>
        </p:nvSpPr>
        <p:spPr>
          <a:xfrm>
            <a:off x="8732520" y="2926080"/>
            <a:ext cx="2926080" cy="457200"/>
          </a:xfrm>
          <a:prstGeom prst="rect">
            <a:avLst/>
          </a:prstGeom>
          <a:noFill/>
          <a:ln/>
        </p:spPr>
        <p:txBody>
          <a:bodyPr wrap="square" lIns="0" tIns="0" rIns="0" bIns="0" rtlCol="0" anchor="ctr"/>
          <a:lstStyle/>
          <a:p>
            <a:pPr indent="0" marL="0">
              <a:buNone/>
            </a:pPr>
            <a:r>
              <a:rPr lang="en-US" sz="1400" dirty="0">
                <a:solidFill>
                  <a:schemeClr val="tx1"/>
                </a:solidFill>
              </a:rPr>
              <a:t>Ford F-150 (pickup)</a:t>
            </a:r>
            <a:endParaRPr lang="en-US" sz="1400" dirty="0"/>
          </a:p>
        </p:txBody>
      </p:sp>
      <p:sp>
        <p:nvSpPr>
          <p:cNvPr id="21" name="Text 15"/>
          <p:cNvSpPr txBox="1"/>
          <p:nvPr/>
        </p:nvSpPr>
        <p:spPr>
          <a:xfrm>
            <a:off x="8138160" y="3657600"/>
            <a:ext cx="347472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TRACKS</a:t>
            </a:r>
            <a:endParaRPr lang="en-US" sz="1200" dirty="0"/>
          </a:p>
        </p:txBody>
      </p:sp>
      <p:sp>
        <p:nvSpPr>
          <p:cNvPr id="22" name="Text 16"/>
          <p:cNvSpPr txBox="1"/>
          <p:nvPr/>
        </p:nvSpPr>
        <p:spPr>
          <a:xfrm>
            <a:off x="8138160" y="4023360"/>
            <a:ext cx="3502152"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Monza and Spa (TUM racetrack database)</a:t>
            </a:r>
            <a:endParaRPr lang="en-US" sz="1400" dirty="0"/>
          </a:p>
          <a:p>
            <a:pPr marL="342900" indent="-342900">
              <a:spcAft>
                <a:spcPts val="600"/>
              </a:spcAft>
              <a:buSzPct val="100000"/>
              <a:buChar char="•"/>
            </a:pPr>
            <a:r>
              <a:rPr lang="en-US" sz="1400" dirty="0">
                <a:solidFill>
                  <a:schemeClr val="tx1"/>
                </a:solidFill>
              </a:rPr>
              <a:t>Daytona (banking, built from official dimensions)</a:t>
            </a:r>
            <a:endParaRPr lang="en-US" sz="1400" dirty="0"/>
          </a:p>
          <a:p>
            <a:pPr marL="342900" indent="-342900">
              <a:spcAft>
                <a:spcPts val="600"/>
              </a:spcAft>
              <a:buSzPct val="100000"/>
              <a:buChar char="•"/>
            </a:pPr>
            <a:r>
              <a:rPr lang="en-US" sz="1400" dirty="0">
                <a:solidFill>
                  <a:schemeClr val="tx1"/>
                </a:solidFill>
              </a:rPr>
              <a:t>Straight rough test road</a:t>
            </a:r>
            <a:endParaRPr lang="en-US" sz="1400" dirty="0"/>
          </a:p>
          <a:p>
            <a:pPr marL="342900" indent="-342900">
              <a:spcAft>
                <a:spcPts val="600"/>
              </a:spcAft>
              <a:buSzPct val="100000"/>
              <a:buChar char="•"/>
            </a:pPr>
            <a:r>
              <a:rPr lang="en-US" sz="1400" dirty="0">
                <a:solidFill>
                  <a:schemeClr val="tx1"/>
                </a:solidFill>
              </a:rPr>
              <a:t>Weight transfer, pitch, roll, kerbs and bump stops are modelled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Grip effect on each track</a:t>
            </a:r>
            <a:endParaRPr lang="en-US" sz="3000" dirty="0"/>
          </a:p>
        </p:txBody>
      </p:sp>
      <p:sp>
        <p:nvSpPr>
          <p:cNvPr id="3" name="Text 1"/>
          <p:cNvSpPr txBox="1"/>
          <p:nvPr/>
        </p:nvSpPr>
        <p:spPr>
          <a:xfrm>
            <a:off x="548640" y="1188720"/>
            <a:ext cx="11091672" cy="365760"/>
          </a:xfrm>
          <a:prstGeom prst="rect">
            <a:avLst/>
          </a:prstGeom>
          <a:noFill/>
          <a:ln/>
        </p:spPr>
        <p:txBody>
          <a:bodyPr wrap="square" lIns="0" tIns="0" rIns="0" bIns="0" rtlCol="0" anchor="t"/>
          <a:lstStyle/>
          <a:p>
            <a:pPr indent="0" marL="0">
              <a:buNone/>
            </a:pPr>
            <a:r>
              <a:rPr lang="en-US" sz="1400" dirty="0">
                <a:solidFill>
                  <a:schemeClr val="tx2"/>
                </a:solidFill>
              </a:rPr>
              <a:t>Steadier tyre load vs conventional suspension (%, positive = more grip); J-damper replaces the main damper</a:t>
            </a:r>
            <a:endParaRPr lang="en-US" sz="1400" dirty="0"/>
          </a:p>
        </p:txBody>
      </p:sp>
      <p:graphicFrame>
        <p:nvGraphicFramePr>
          <p:cNvPr id="4" name="Chart 0" descr=""/>
          <p:cNvGraphicFramePr/>
          <p:nvPr/>
        </p:nvGraphicFramePr>
        <p:xfrm>
          <a:off x="548640" y="1645920"/>
          <a:ext cx="3514344"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37304" y="1645920"/>
          <a:ext cx="3514344" cy="374904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125968" y="1645920"/>
          <a:ext cx="3514344" cy="3749040"/>
        </p:xfrm>
        <a:graphic xmlns:a="http://schemas.openxmlformats.org/drawingml/2006/main">
          <a:graphicData uri="http://schemas.openxmlformats.org/drawingml/2006/chart">
            <c:chart xmlns:c="http://schemas.openxmlformats.org/drawingml/2006/chart" r:id="rId3"/>
          </a:graphicData>
        </a:graphic>
      </p:graphicFrame>
      <p:sp>
        <p:nvSpPr>
          <p:cNvPr id="7" name="legend Ideal J-damper"/>
          <p:cNvSpPr/>
          <p:nvPr/>
        </p:nvSpPr>
        <p:spPr>
          <a:xfrm>
            <a:off x="548640" y="5532120"/>
            <a:ext cx="182880" cy="182880"/>
          </a:xfrm>
          <a:prstGeom prst="rect">
            <a:avLst/>
          </a:prstGeom>
          <a:solidFill>
            <a:schemeClr val="accent2"/>
          </a:solidFill>
          <a:ln/>
        </p:spPr>
      </p:sp>
      <p:sp>
        <p:nvSpPr>
          <p:cNvPr id="8" name="Text 3"/>
          <p:cNvSpPr txBox="1"/>
          <p:nvPr/>
        </p:nvSpPr>
        <p:spPr>
          <a:xfrm>
            <a:off x="822960" y="5458968"/>
            <a:ext cx="2926080" cy="329184"/>
          </a:xfrm>
          <a:prstGeom prst="rect">
            <a:avLst/>
          </a:prstGeom>
          <a:noFill/>
          <a:ln/>
        </p:spPr>
        <p:txBody>
          <a:bodyPr wrap="square" lIns="0" tIns="0" rIns="0" bIns="0" rtlCol="0" anchor="ctr"/>
          <a:lstStyle/>
          <a:p>
            <a:pPr indent="0" marL="0">
              <a:buNone/>
            </a:pPr>
            <a:r>
              <a:rPr lang="en-US" sz="1200" dirty="0">
                <a:solidFill>
                  <a:schemeClr val="tx1"/>
                </a:solidFill>
              </a:rPr>
              <a:t>Ideal J-damper</a:t>
            </a:r>
            <a:endParaRPr lang="en-US" sz="1200" dirty="0"/>
          </a:p>
        </p:txBody>
      </p:sp>
      <p:sp>
        <p:nvSpPr>
          <p:cNvPr id="9" name="legend CFD J-damper (real fluid inerter)"/>
          <p:cNvSpPr/>
          <p:nvPr/>
        </p:nvSpPr>
        <p:spPr>
          <a:xfrm>
            <a:off x="2468880" y="5532120"/>
            <a:ext cx="182880" cy="182880"/>
          </a:xfrm>
          <a:prstGeom prst="rect">
            <a:avLst/>
          </a:prstGeom>
          <a:solidFill>
            <a:schemeClr val="accent1"/>
          </a:solidFill>
          <a:ln/>
        </p:spPr>
      </p:sp>
      <p:sp>
        <p:nvSpPr>
          <p:cNvPr id="10" name="Text 5"/>
          <p:cNvSpPr txBox="1"/>
          <p:nvPr/>
        </p:nvSpPr>
        <p:spPr>
          <a:xfrm>
            <a:off x="2743200" y="5458968"/>
            <a:ext cx="2926080" cy="329184"/>
          </a:xfrm>
          <a:prstGeom prst="rect">
            <a:avLst/>
          </a:prstGeom>
          <a:noFill/>
          <a:ln/>
        </p:spPr>
        <p:txBody>
          <a:bodyPr wrap="square" lIns="0" tIns="0" rIns="0" bIns="0" rtlCol="0" anchor="ctr"/>
          <a:lstStyle/>
          <a:p>
            <a:pPr indent="0" marL="0">
              <a:buNone/>
            </a:pPr>
            <a:r>
              <a:rPr lang="en-US" sz="1200" dirty="0">
                <a:solidFill>
                  <a:schemeClr val="tx1"/>
                </a:solidFill>
              </a:rPr>
              <a:t>CFD J-damper (real fluid inerter)</a:t>
            </a:r>
            <a:endParaRPr lang="en-US" sz="1200" dirty="0"/>
          </a:p>
        </p:txBody>
      </p:sp>
      <p:sp>
        <p:nvSpPr>
          <p:cNvPr id="11" name="Text 6"/>
          <p:cNvSpPr txBox="1"/>
          <p:nvPr/>
        </p:nvSpPr>
        <p:spPr>
          <a:xfrm>
            <a:off x="548640" y="5852160"/>
            <a:ext cx="11091672" cy="411480"/>
          </a:xfrm>
          <a:prstGeom prst="rect">
            <a:avLst/>
          </a:prstGeom>
          <a:noFill/>
          <a:ln/>
        </p:spPr>
        <p:txBody>
          <a:bodyPr wrap="square" lIns="0" tIns="0" rIns="0" bIns="0" rtlCol="0" anchor="ctr"/>
          <a:lstStyle/>
          <a:p>
            <a:pPr indent="0" marL="0">
              <a:buNone/>
            </a:pPr>
            <a:r>
              <a:rPr lang="en-US" sz="1400" b="1" dirty="0">
                <a:solidFill>
                  <a:schemeClr val="accent1"/>
                </a:solidFill>
              </a:rPr>
              <a:t>Soft road car and pickup: </a:t>
            </a:r>
            <a:pPr indent="0" marL="0">
              <a:buNone/>
            </a:pPr>
            <a:r>
              <a:rPr lang="en-US" sz="1400" dirty="0">
                <a:solidFill>
                  <a:schemeClr val="tx1"/>
                </a:solidFill>
              </a:rPr>
              <a:t>the real inerter's fluid damping helps (+4 to +7 % on circuits).  </a:t>
            </a:r>
            <a:pPr indent="0" marL="0">
              <a:buNone/>
            </a:pPr>
            <a:r>
              <a:rPr lang="en-US" sz="1400" b="1" dirty="0">
                <a:solidFill>
                  <a:schemeClr val="accent2"/>
                </a:solidFill>
              </a:rPr>
              <a:t>Stiff GT4: </a:t>
            </a:r>
            <a:pPr indent="0" marL="0">
              <a:buNone/>
            </a:pPr>
            <a:r>
              <a:rPr lang="en-US" sz="1400" dirty="0">
                <a:solidFill>
                  <a:schemeClr val="tx1"/>
                </a:solidFill>
              </a:rPr>
              <a:t>fluid losses cancel most of the gain (0 to +2 %).</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The trade-off: bump grip vs body control</a:t>
            </a:r>
            <a:endParaRPr lang="en-US" sz="3000" dirty="0"/>
          </a:p>
        </p:txBody>
      </p:sp>
      <p:sp>
        <p:nvSpPr>
          <p:cNvPr id="3" name="suspension Conventional"/>
          <p:cNvSpPr/>
          <p:nvPr/>
        </p:nvSpPr>
        <p:spPr>
          <a:xfrm>
            <a:off x="548640" y="1325880"/>
            <a:ext cx="3514344" cy="3611880"/>
          </a:xfrm>
          <a:prstGeom prst="roundRect">
            <a:avLst>
              <a:gd name="adj" fmla="val 2082"/>
            </a:avLst>
          </a:prstGeom>
          <a:solidFill>
            <a:schemeClr val="bg2"/>
          </a:solidFill>
          <a:ln/>
        </p:spPr>
      </p:sp>
      <p:sp>
        <p:nvSpPr>
          <p:cNvPr id="4" name="badge FaCogs"/>
          <p:cNvSpPr/>
          <p:nvPr/>
        </p:nvSpPr>
        <p:spPr>
          <a:xfrm>
            <a:off x="822960" y="1554480"/>
            <a:ext cx="548640" cy="548640"/>
          </a:xfrm>
          <a:prstGeom prst="ellipse">
            <a:avLst/>
          </a:prstGeom>
          <a:solidFill>
            <a:schemeClr val="accent3"/>
          </a:solidFill>
          <a:ln/>
        </p:spPr>
      </p:sp>
      <p:pic>
        <p:nvPicPr>
          <p:cNvPr id="5" name="Image 0" descr="Cogs">    </p:cNvPr>
          <p:cNvPicPr>
            <a:picLocks noChangeAspect="1"/>
          </p:cNvPicPr>
          <p:nvPr/>
        </p:nvPicPr>
        <p:blipFill>
          <a:blip r:embed="rId1"/>
          <a:stretch>
            <a:fillRect/>
          </a:stretch>
        </p:blipFill>
        <p:spPr>
          <a:xfrm>
            <a:off x="965606" y="1697126"/>
            <a:ext cx="263347" cy="263347"/>
          </a:xfrm>
          <a:prstGeom prst="rect">
            <a:avLst/>
          </a:prstGeom>
        </p:spPr>
      </p:pic>
      <p:sp>
        <p:nvSpPr>
          <p:cNvPr id="6" name="Text 3"/>
          <p:cNvSpPr txBox="1"/>
          <p:nvPr/>
        </p:nvSpPr>
        <p:spPr>
          <a:xfrm>
            <a:off x="1508760" y="1508760"/>
            <a:ext cx="2371344" cy="365760"/>
          </a:xfrm>
          <a:prstGeom prst="rect">
            <a:avLst/>
          </a:prstGeom>
          <a:noFill/>
          <a:ln/>
        </p:spPr>
        <p:txBody>
          <a:bodyPr wrap="square" lIns="0" tIns="0" rIns="0" bIns="0" rtlCol="0" anchor="ctr"/>
          <a:lstStyle/>
          <a:p>
            <a:pPr indent="0" marL="0">
              <a:buNone/>
            </a:pPr>
            <a:r>
              <a:rPr lang="en-US" sz="1800" b="1" dirty="0">
                <a:solidFill>
                  <a:schemeClr val="tx1"/>
                </a:solidFill>
              </a:rPr>
              <a:t>Conventional</a:t>
            </a:r>
            <a:endParaRPr lang="en-US" sz="1800" dirty="0"/>
          </a:p>
        </p:txBody>
      </p:sp>
      <p:sp>
        <p:nvSpPr>
          <p:cNvPr id="7" name="Text 4"/>
          <p:cNvSpPr txBox="1"/>
          <p:nvPr/>
        </p:nvSpPr>
        <p:spPr>
          <a:xfrm>
            <a:off x="1508760" y="1874520"/>
            <a:ext cx="2371344" cy="274320"/>
          </a:xfrm>
          <a:prstGeom prst="rect">
            <a:avLst/>
          </a:prstGeom>
          <a:noFill/>
          <a:ln/>
        </p:spPr>
        <p:txBody>
          <a:bodyPr wrap="square" lIns="0" tIns="0" rIns="0" bIns="0" rtlCol="0" anchor="ctr"/>
          <a:lstStyle/>
          <a:p>
            <a:pPr indent="0" marL="0">
              <a:buNone/>
            </a:pPr>
            <a:r>
              <a:rPr lang="en-US" sz="1100" i="1" dirty="0">
                <a:solidFill>
                  <a:schemeClr val="accent3"/>
                </a:solidFill>
              </a:rPr>
              <a:t>Spring + damper per wheel</a:t>
            </a:r>
            <a:endParaRPr lang="en-US" sz="1100" dirty="0"/>
          </a:p>
        </p:txBody>
      </p:sp>
      <p:sp>
        <p:nvSpPr>
          <p:cNvPr id="8" name="Text 5"/>
          <p:cNvSpPr txBox="1"/>
          <p:nvPr/>
        </p:nvSpPr>
        <p:spPr>
          <a:xfrm>
            <a:off x="822960" y="2377440"/>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BUMPS (&gt; 3 HZ)</a:t>
            </a:r>
            <a:endParaRPr lang="en-US" sz="1000" dirty="0"/>
          </a:p>
        </p:txBody>
      </p:sp>
      <p:sp>
        <p:nvSpPr>
          <p:cNvPr id="9" name="Text 6"/>
          <p:cNvSpPr txBox="1"/>
          <p:nvPr/>
        </p:nvSpPr>
        <p:spPr>
          <a:xfrm>
            <a:off x="822960" y="2651760"/>
            <a:ext cx="2965704" cy="502920"/>
          </a:xfrm>
          <a:prstGeom prst="rect">
            <a:avLst/>
          </a:prstGeom>
          <a:noFill/>
          <a:ln/>
        </p:spPr>
        <p:txBody>
          <a:bodyPr wrap="square" lIns="0" tIns="0" rIns="0" bIns="0" rtlCol="0" anchor="t"/>
          <a:lstStyle/>
          <a:p>
            <a:pPr indent="0" marL="0">
              <a:buNone/>
            </a:pPr>
            <a:r>
              <a:rPr lang="en-US" sz="1400" dirty="0">
                <a:solidFill>
                  <a:schemeClr val="tx1"/>
                </a:solidFill>
              </a:rPr>
              <a:t>Baseline</a:t>
            </a:r>
            <a:endParaRPr lang="en-US" sz="1400" dirty="0"/>
          </a:p>
        </p:txBody>
      </p:sp>
      <p:sp>
        <p:nvSpPr>
          <p:cNvPr id="10" name="Text 7"/>
          <p:cNvSpPr txBox="1"/>
          <p:nvPr/>
        </p:nvSpPr>
        <p:spPr>
          <a:xfrm>
            <a:off x="822960" y="3218688"/>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BODY MOTION (&lt; 3 HZ)</a:t>
            </a:r>
            <a:endParaRPr lang="en-US" sz="1000" dirty="0"/>
          </a:p>
        </p:txBody>
      </p:sp>
      <p:sp>
        <p:nvSpPr>
          <p:cNvPr id="11" name="Text 8"/>
          <p:cNvSpPr txBox="1"/>
          <p:nvPr/>
        </p:nvSpPr>
        <p:spPr>
          <a:xfrm>
            <a:off x="822960" y="3493008"/>
            <a:ext cx="2965704" cy="502920"/>
          </a:xfrm>
          <a:prstGeom prst="rect">
            <a:avLst/>
          </a:prstGeom>
          <a:noFill/>
          <a:ln/>
        </p:spPr>
        <p:txBody>
          <a:bodyPr wrap="square" lIns="0" tIns="0" rIns="0" bIns="0" rtlCol="0" anchor="t"/>
          <a:lstStyle/>
          <a:p>
            <a:pPr indent="0" marL="0">
              <a:buNone/>
            </a:pPr>
            <a:r>
              <a:rPr lang="en-US" sz="1400" dirty="0">
                <a:solidFill>
                  <a:schemeClr val="tx1"/>
                </a:solidFill>
              </a:rPr>
              <a:t>Best controlled</a:t>
            </a:r>
            <a:endParaRPr lang="en-US" sz="1400" dirty="0"/>
          </a:p>
        </p:txBody>
      </p:sp>
      <p:sp>
        <p:nvSpPr>
          <p:cNvPr id="12" name="Text 9"/>
          <p:cNvSpPr txBox="1"/>
          <p:nvPr/>
        </p:nvSpPr>
        <p:spPr>
          <a:xfrm>
            <a:off x="822960" y="4059936"/>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BEST FOR</a:t>
            </a:r>
            <a:endParaRPr lang="en-US" sz="1000" dirty="0"/>
          </a:p>
        </p:txBody>
      </p:sp>
      <p:sp>
        <p:nvSpPr>
          <p:cNvPr id="13" name="Text 10"/>
          <p:cNvSpPr txBox="1"/>
          <p:nvPr/>
        </p:nvSpPr>
        <p:spPr>
          <a:xfrm>
            <a:off x="822960" y="4334256"/>
            <a:ext cx="2965704" cy="502920"/>
          </a:xfrm>
          <a:prstGeom prst="rect">
            <a:avLst/>
          </a:prstGeom>
          <a:noFill/>
          <a:ln/>
        </p:spPr>
        <p:txBody>
          <a:bodyPr wrap="square" lIns="0" tIns="0" rIns="0" bIns="0" rtlCol="0" anchor="t"/>
          <a:lstStyle/>
          <a:p>
            <a:pPr indent="0" marL="0">
              <a:buNone/>
            </a:pPr>
            <a:r>
              <a:rPr lang="en-US" sz="1400" dirty="0">
                <a:solidFill>
                  <a:schemeClr val="tx1"/>
                </a:solidFill>
              </a:rPr>
              <a:t>Body control, simplicity</a:t>
            </a:r>
            <a:endParaRPr lang="en-US" sz="1400" dirty="0"/>
          </a:p>
        </p:txBody>
      </p:sp>
      <p:sp>
        <p:nvSpPr>
          <p:cNvPr id="14" name="suspension Ideal J-damper"/>
          <p:cNvSpPr/>
          <p:nvPr/>
        </p:nvSpPr>
        <p:spPr>
          <a:xfrm>
            <a:off x="4337304" y="1325880"/>
            <a:ext cx="3514344" cy="3611880"/>
          </a:xfrm>
          <a:prstGeom prst="roundRect">
            <a:avLst>
              <a:gd name="adj" fmla="val 2082"/>
            </a:avLst>
          </a:prstGeom>
          <a:solidFill>
            <a:schemeClr val="bg2"/>
          </a:solidFill>
          <a:ln/>
        </p:spPr>
      </p:sp>
      <p:sp>
        <p:nvSpPr>
          <p:cNvPr id="15" name="badge FaWaveSquare"/>
          <p:cNvSpPr/>
          <p:nvPr/>
        </p:nvSpPr>
        <p:spPr>
          <a:xfrm>
            <a:off x="4611624" y="1554480"/>
            <a:ext cx="548640" cy="548640"/>
          </a:xfrm>
          <a:prstGeom prst="ellipse">
            <a:avLst/>
          </a:prstGeom>
          <a:solidFill>
            <a:schemeClr val="accent2"/>
          </a:solidFill>
          <a:ln/>
        </p:spPr>
      </p:sp>
      <p:pic>
        <p:nvPicPr>
          <p:cNvPr id="16" name="Image 1" descr="WaveSquare">    </p:cNvPr>
          <p:cNvPicPr>
            <a:picLocks noChangeAspect="1"/>
          </p:cNvPicPr>
          <p:nvPr/>
        </p:nvPicPr>
        <p:blipFill>
          <a:blip r:embed="rId2"/>
          <a:stretch>
            <a:fillRect/>
          </a:stretch>
        </p:blipFill>
        <p:spPr>
          <a:xfrm>
            <a:off x="4754270" y="1697126"/>
            <a:ext cx="263347" cy="263347"/>
          </a:xfrm>
          <a:prstGeom prst="rect">
            <a:avLst/>
          </a:prstGeom>
        </p:spPr>
      </p:pic>
      <p:sp>
        <p:nvSpPr>
          <p:cNvPr id="17" name="Text 13"/>
          <p:cNvSpPr txBox="1"/>
          <p:nvPr/>
        </p:nvSpPr>
        <p:spPr>
          <a:xfrm>
            <a:off x="5297424" y="1508760"/>
            <a:ext cx="2371344" cy="365760"/>
          </a:xfrm>
          <a:prstGeom prst="rect">
            <a:avLst/>
          </a:prstGeom>
          <a:noFill/>
          <a:ln/>
        </p:spPr>
        <p:txBody>
          <a:bodyPr wrap="square" lIns="0" tIns="0" rIns="0" bIns="0" rtlCol="0" anchor="ctr"/>
          <a:lstStyle/>
          <a:p>
            <a:pPr indent="0" marL="0">
              <a:buNone/>
            </a:pPr>
            <a:r>
              <a:rPr lang="en-US" sz="1800" b="1" dirty="0">
                <a:solidFill>
                  <a:schemeClr val="tx1"/>
                </a:solidFill>
              </a:rPr>
              <a:t>Ideal J-damper</a:t>
            </a:r>
            <a:endParaRPr lang="en-US" sz="1800" dirty="0"/>
          </a:p>
        </p:txBody>
      </p:sp>
      <p:sp>
        <p:nvSpPr>
          <p:cNvPr id="18" name="Text 14"/>
          <p:cNvSpPr txBox="1"/>
          <p:nvPr/>
        </p:nvSpPr>
        <p:spPr>
          <a:xfrm>
            <a:off x="5297424" y="1874520"/>
            <a:ext cx="2371344" cy="274320"/>
          </a:xfrm>
          <a:prstGeom prst="rect">
            <a:avLst/>
          </a:prstGeom>
          <a:noFill/>
          <a:ln/>
        </p:spPr>
        <p:txBody>
          <a:bodyPr wrap="square" lIns="0" tIns="0" rIns="0" bIns="0" rtlCol="0" anchor="ctr"/>
          <a:lstStyle/>
          <a:p>
            <a:pPr indent="0" marL="0">
              <a:buNone/>
            </a:pPr>
            <a:r>
              <a:rPr lang="en-US" sz="1100" i="1" dirty="0">
                <a:solidFill>
                  <a:schemeClr val="accent3"/>
                </a:solidFill>
              </a:rPr>
              <a:t>Perfect inerter, F = b·ẍ</a:t>
            </a:r>
            <a:endParaRPr lang="en-US" sz="1100" dirty="0"/>
          </a:p>
        </p:txBody>
      </p:sp>
      <p:sp>
        <p:nvSpPr>
          <p:cNvPr id="19" name="Text 15"/>
          <p:cNvSpPr txBox="1"/>
          <p:nvPr/>
        </p:nvSpPr>
        <p:spPr>
          <a:xfrm>
            <a:off x="4611624" y="2377440"/>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BUMPS (&gt; 3 HZ)</a:t>
            </a:r>
            <a:endParaRPr lang="en-US" sz="1000" dirty="0"/>
          </a:p>
        </p:txBody>
      </p:sp>
      <p:sp>
        <p:nvSpPr>
          <p:cNvPr id="20" name="Text 16"/>
          <p:cNvSpPr txBox="1"/>
          <p:nvPr/>
        </p:nvSpPr>
        <p:spPr>
          <a:xfrm>
            <a:off x="4611624" y="2651760"/>
            <a:ext cx="2965704" cy="502920"/>
          </a:xfrm>
          <a:prstGeom prst="rect">
            <a:avLst/>
          </a:prstGeom>
          <a:noFill/>
          <a:ln/>
        </p:spPr>
        <p:txBody>
          <a:bodyPr wrap="square" lIns="0" tIns="0" rIns="0" bIns="0" rtlCol="0" anchor="t"/>
          <a:lstStyle/>
          <a:p>
            <a:pPr indent="0" marL="0">
              <a:buNone/>
            </a:pPr>
            <a:r>
              <a:rPr lang="en-US" sz="1400" dirty="0">
                <a:solidFill>
                  <a:schemeClr val="tx1"/>
                </a:solidFill>
              </a:rPr>
              <a:t>Better, up to +7 %</a:t>
            </a:r>
            <a:endParaRPr lang="en-US" sz="1400" dirty="0"/>
          </a:p>
        </p:txBody>
      </p:sp>
      <p:sp>
        <p:nvSpPr>
          <p:cNvPr id="21" name="Text 17"/>
          <p:cNvSpPr txBox="1"/>
          <p:nvPr/>
        </p:nvSpPr>
        <p:spPr>
          <a:xfrm>
            <a:off x="4611624" y="3218688"/>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BODY MOTION (&lt; 3 HZ)</a:t>
            </a:r>
            <a:endParaRPr lang="en-US" sz="1000" dirty="0"/>
          </a:p>
        </p:txBody>
      </p:sp>
      <p:sp>
        <p:nvSpPr>
          <p:cNvPr id="22" name="Text 18"/>
          <p:cNvSpPr txBox="1"/>
          <p:nvPr/>
        </p:nvSpPr>
        <p:spPr>
          <a:xfrm>
            <a:off x="4611624" y="3493008"/>
            <a:ext cx="2965704" cy="502920"/>
          </a:xfrm>
          <a:prstGeom prst="rect">
            <a:avLst/>
          </a:prstGeom>
          <a:noFill/>
          <a:ln/>
        </p:spPr>
        <p:txBody>
          <a:bodyPr wrap="square" lIns="0" tIns="0" rIns="0" bIns="0" rtlCol="0" anchor="t"/>
          <a:lstStyle/>
          <a:p>
            <a:pPr indent="0" marL="0">
              <a:buNone/>
            </a:pPr>
            <a:r>
              <a:rPr lang="en-US" sz="1400" dirty="0">
                <a:solidFill>
                  <a:schemeClr val="tx1"/>
                </a:solidFill>
              </a:rPr>
              <a:t>Worse without the main damper (down to −7 %)</a:t>
            </a:r>
            <a:endParaRPr lang="en-US" sz="1400" dirty="0"/>
          </a:p>
        </p:txBody>
      </p:sp>
      <p:sp>
        <p:nvSpPr>
          <p:cNvPr id="23" name="Text 19"/>
          <p:cNvSpPr txBox="1"/>
          <p:nvPr/>
        </p:nvSpPr>
        <p:spPr>
          <a:xfrm>
            <a:off x="4611624" y="4059936"/>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BEST FOR</a:t>
            </a:r>
            <a:endParaRPr lang="en-US" sz="1000" dirty="0"/>
          </a:p>
        </p:txBody>
      </p:sp>
      <p:sp>
        <p:nvSpPr>
          <p:cNvPr id="24" name="Text 20"/>
          <p:cNvSpPr txBox="1"/>
          <p:nvPr/>
        </p:nvSpPr>
        <p:spPr>
          <a:xfrm>
            <a:off x="4611624" y="4334256"/>
            <a:ext cx="2965704" cy="502920"/>
          </a:xfrm>
          <a:prstGeom prst="rect">
            <a:avLst/>
          </a:prstGeom>
          <a:noFill/>
          <a:ln/>
        </p:spPr>
        <p:txBody>
          <a:bodyPr wrap="square" lIns="0" tIns="0" rIns="0" bIns="0" rtlCol="0" anchor="t"/>
          <a:lstStyle/>
          <a:p>
            <a:pPr indent="0" marL="0">
              <a:buNone/>
            </a:pPr>
            <a:r>
              <a:rPr lang="en-US" sz="1400" dirty="0">
                <a:solidFill>
                  <a:schemeClr val="tx1"/>
                </a:solidFill>
              </a:rPr>
              <a:t>Stiff race car (GT4)</a:t>
            </a:r>
            <a:endParaRPr lang="en-US" sz="1400" dirty="0"/>
          </a:p>
        </p:txBody>
      </p:sp>
      <p:sp>
        <p:nvSpPr>
          <p:cNvPr id="25" name="suspension CFD J-damper"/>
          <p:cNvSpPr/>
          <p:nvPr/>
        </p:nvSpPr>
        <p:spPr>
          <a:xfrm>
            <a:off x="8125968" y="1325880"/>
            <a:ext cx="3514344" cy="3611880"/>
          </a:xfrm>
          <a:prstGeom prst="roundRect">
            <a:avLst>
              <a:gd name="adj" fmla="val 2082"/>
            </a:avLst>
          </a:prstGeom>
          <a:solidFill>
            <a:schemeClr val="bg2"/>
          </a:solidFill>
          <a:ln/>
        </p:spPr>
      </p:sp>
      <p:sp>
        <p:nvSpPr>
          <p:cNvPr id="26" name="badge FaWater"/>
          <p:cNvSpPr/>
          <p:nvPr/>
        </p:nvSpPr>
        <p:spPr>
          <a:xfrm>
            <a:off x="8400288" y="1554480"/>
            <a:ext cx="548640" cy="548640"/>
          </a:xfrm>
          <a:prstGeom prst="ellipse">
            <a:avLst/>
          </a:prstGeom>
          <a:solidFill>
            <a:schemeClr val="accent1"/>
          </a:solidFill>
          <a:ln/>
        </p:spPr>
      </p:sp>
      <p:pic>
        <p:nvPicPr>
          <p:cNvPr id="27" name="Image 2" descr="Water">    </p:cNvPr>
          <p:cNvPicPr>
            <a:picLocks noChangeAspect="1"/>
          </p:cNvPicPr>
          <p:nvPr/>
        </p:nvPicPr>
        <p:blipFill>
          <a:blip r:embed="rId3"/>
          <a:stretch>
            <a:fillRect/>
          </a:stretch>
        </p:blipFill>
        <p:spPr>
          <a:xfrm>
            <a:off x="8542934" y="1697126"/>
            <a:ext cx="263347" cy="263347"/>
          </a:xfrm>
          <a:prstGeom prst="rect">
            <a:avLst/>
          </a:prstGeom>
        </p:spPr>
      </p:pic>
      <p:sp>
        <p:nvSpPr>
          <p:cNvPr id="28" name="Text 23"/>
          <p:cNvSpPr txBox="1"/>
          <p:nvPr/>
        </p:nvSpPr>
        <p:spPr>
          <a:xfrm>
            <a:off x="9086088" y="1508760"/>
            <a:ext cx="2371344" cy="365760"/>
          </a:xfrm>
          <a:prstGeom prst="rect">
            <a:avLst/>
          </a:prstGeom>
          <a:noFill/>
          <a:ln/>
        </p:spPr>
        <p:txBody>
          <a:bodyPr wrap="square" lIns="0" tIns="0" rIns="0" bIns="0" rtlCol="0" anchor="ctr"/>
          <a:lstStyle/>
          <a:p>
            <a:pPr indent="0" marL="0">
              <a:buNone/>
            </a:pPr>
            <a:r>
              <a:rPr lang="en-US" sz="1800" b="1" dirty="0">
                <a:solidFill>
                  <a:schemeClr val="tx1"/>
                </a:solidFill>
              </a:rPr>
              <a:t>CFD J-damper</a:t>
            </a:r>
            <a:endParaRPr lang="en-US" sz="1800" dirty="0"/>
          </a:p>
        </p:txBody>
      </p:sp>
      <p:sp>
        <p:nvSpPr>
          <p:cNvPr id="29" name="Text 24"/>
          <p:cNvSpPr txBox="1"/>
          <p:nvPr/>
        </p:nvSpPr>
        <p:spPr>
          <a:xfrm>
            <a:off x="9086088" y="1874520"/>
            <a:ext cx="2371344" cy="274320"/>
          </a:xfrm>
          <a:prstGeom prst="rect">
            <a:avLst/>
          </a:prstGeom>
          <a:noFill/>
          <a:ln/>
        </p:spPr>
        <p:txBody>
          <a:bodyPr wrap="square" lIns="0" tIns="0" rIns="0" bIns="0" rtlCol="0" anchor="ctr"/>
          <a:lstStyle/>
          <a:p>
            <a:pPr indent="0" marL="0">
              <a:buNone/>
            </a:pPr>
            <a:r>
              <a:rPr lang="en-US" sz="1100" i="1" dirty="0">
                <a:solidFill>
                  <a:schemeClr val="accent3"/>
                </a:solidFill>
              </a:rPr>
              <a:t>Real fluid inerter, as measured</a:t>
            </a:r>
            <a:endParaRPr lang="en-US" sz="1100" dirty="0"/>
          </a:p>
        </p:txBody>
      </p:sp>
      <p:sp>
        <p:nvSpPr>
          <p:cNvPr id="30" name="Text 25"/>
          <p:cNvSpPr txBox="1"/>
          <p:nvPr/>
        </p:nvSpPr>
        <p:spPr>
          <a:xfrm>
            <a:off x="8400288" y="2377440"/>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BUMPS (&gt; 3 HZ)</a:t>
            </a:r>
            <a:endParaRPr lang="en-US" sz="1000" dirty="0"/>
          </a:p>
        </p:txBody>
      </p:sp>
      <p:sp>
        <p:nvSpPr>
          <p:cNvPr id="31" name="Text 26"/>
          <p:cNvSpPr txBox="1"/>
          <p:nvPr/>
        </p:nvSpPr>
        <p:spPr>
          <a:xfrm>
            <a:off x="8400288" y="2651760"/>
            <a:ext cx="2965704" cy="502920"/>
          </a:xfrm>
          <a:prstGeom prst="rect">
            <a:avLst/>
          </a:prstGeom>
          <a:noFill/>
          <a:ln/>
        </p:spPr>
        <p:txBody>
          <a:bodyPr wrap="square" lIns="0" tIns="0" rIns="0" bIns="0" rtlCol="0" anchor="t"/>
          <a:lstStyle/>
          <a:p>
            <a:pPr indent="0" marL="0">
              <a:buNone/>
            </a:pPr>
            <a:r>
              <a:rPr lang="en-US" sz="1400" dirty="0">
                <a:solidFill>
                  <a:schemeClr val="tx1"/>
                </a:solidFill>
              </a:rPr>
              <a:t>Better on soft cars (up to +9 %)</a:t>
            </a:r>
            <a:endParaRPr lang="en-US" sz="1400" dirty="0"/>
          </a:p>
        </p:txBody>
      </p:sp>
      <p:sp>
        <p:nvSpPr>
          <p:cNvPr id="32" name="Text 27"/>
          <p:cNvSpPr txBox="1"/>
          <p:nvPr/>
        </p:nvSpPr>
        <p:spPr>
          <a:xfrm>
            <a:off x="8400288" y="3218688"/>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BODY MOTION (&lt; 3 HZ)</a:t>
            </a:r>
            <a:endParaRPr lang="en-US" sz="1000" dirty="0"/>
          </a:p>
        </p:txBody>
      </p:sp>
      <p:sp>
        <p:nvSpPr>
          <p:cNvPr id="33" name="Text 28"/>
          <p:cNvSpPr txBox="1"/>
          <p:nvPr/>
        </p:nvSpPr>
        <p:spPr>
          <a:xfrm>
            <a:off x="8400288" y="3493008"/>
            <a:ext cx="2965704" cy="502920"/>
          </a:xfrm>
          <a:prstGeom prst="rect">
            <a:avLst/>
          </a:prstGeom>
          <a:noFill/>
          <a:ln/>
        </p:spPr>
        <p:txBody>
          <a:bodyPr wrap="square" lIns="0" tIns="0" rIns="0" bIns="0" rtlCol="0" anchor="t"/>
          <a:lstStyle/>
          <a:p>
            <a:pPr indent="0" marL="0">
              <a:buNone/>
            </a:pPr>
            <a:r>
              <a:rPr lang="en-US" sz="1400" dirty="0">
                <a:solidFill>
                  <a:schemeClr val="tx1"/>
                </a:solidFill>
              </a:rPr>
              <a:t>Fluid damping keeps control (+1 to +3 %)</a:t>
            </a:r>
            <a:endParaRPr lang="en-US" sz="1400" dirty="0"/>
          </a:p>
        </p:txBody>
      </p:sp>
      <p:sp>
        <p:nvSpPr>
          <p:cNvPr id="34" name="Text 29"/>
          <p:cNvSpPr txBox="1"/>
          <p:nvPr/>
        </p:nvSpPr>
        <p:spPr>
          <a:xfrm>
            <a:off x="8400288" y="4059936"/>
            <a:ext cx="2965704"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BEST FOR</a:t>
            </a:r>
            <a:endParaRPr lang="en-US" sz="1000" dirty="0"/>
          </a:p>
        </p:txBody>
      </p:sp>
      <p:sp>
        <p:nvSpPr>
          <p:cNvPr id="35" name="Text 30"/>
          <p:cNvSpPr txBox="1"/>
          <p:nvPr/>
        </p:nvSpPr>
        <p:spPr>
          <a:xfrm>
            <a:off x="8400288" y="4334256"/>
            <a:ext cx="2965704" cy="502920"/>
          </a:xfrm>
          <a:prstGeom prst="rect">
            <a:avLst/>
          </a:prstGeom>
          <a:noFill/>
          <a:ln/>
        </p:spPr>
        <p:txBody>
          <a:bodyPr wrap="square" lIns="0" tIns="0" rIns="0" bIns="0" rtlCol="0" anchor="t"/>
          <a:lstStyle/>
          <a:p>
            <a:pPr indent="0" marL="0">
              <a:buNone/>
            </a:pPr>
            <a:r>
              <a:rPr lang="en-US" sz="1400" dirty="0">
                <a:solidFill>
                  <a:schemeClr val="tx1"/>
                </a:solidFill>
              </a:rPr>
              <a:t>Road car and pickup</a:t>
            </a:r>
            <a:endParaRPr lang="en-US" sz="1400" dirty="0"/>
          </a:p>
        </p:txBody>
      </p:sp>
      <p:sp>
        <p:nvSpPr>
          <p:cNvPr id="36" name="design implication card"/>
          <p:cNvSpPr/>
          <p:nvPr/>
        </p:nvSpPr>
        <p:spPr>
          <a:xfrm>
            <a:off x="548640" y="5166360"/>
            <a:ext cx="11091672" cy="1051560"/>
          </a:xfrm>
          <a:prstGeom prst="roundRect">
            <a:avLst>
              <a:gd name="adj" fmla="val 6957"/>
            </a:avLst>
          </a:prstGeom>
          <a:solidFill>
            <a:schemeClr val="tx1"/>
          </a:solidFill>
          <a:ln/>
        </p:spPr>
      </p:sp>
      <p:sp>
        <p:nvSpPr>
          <p:cNvPr id="37" name="badge FaLightbulb"/>
          <p:cNvSpPr/>
          <p:nvPr/>
        </p:nvSpPr>
        <p:spPr>
          <a:xfrm>
            <a:off x="777240" y="5413248"/>
            <a:ext cx="548640" cy="548640"/>
          </a:xfrm>
          <a:prstGeom prst="ellipse">
            <a:avLst/>
          </a:prstGeom>
          <a:solidFill>
            <a:schemeClr val="accent1"/>
          </a:solidFill>
          <a:ln/>
        </p:spPr>
      </p:sp>
      <p:pic>
        <p:nvPicPr>
          <p:cNvPr id="38" name="Image 3" descr="Lightbulb">    </p:cNvPr>
          <p:cNvPicPr>
            <a:picLocks noChangeAspect="1"/>
          </p:cNvPicPr>
          <p:nvPr/>
        </p:nvPicPr>
        <p:blipFill>
          <a:blip r:embed="rId4"/>
          <a:stretch>
            <a:fillRect/>
          </a:stretch>
        </p:blipFill>
        <p:spPr>
          <a:xfrm>
            <a:off x="919886" y="5555894"/>
            <a:ext cx="263347" cy="263347"/>
          </a:xfrm>
          <a:prstGeom prst="rect">
            <a:avLst/>
          </a:prstGeom>
        </p:spPr>
      </p:pic>
      <p:sp>
        <p:nvSpPr>
          <p:cNvPr id="39" name="Text 33"/>
          <p:cNvSpPr txBox="1"/>
          <p:nvPr/>
        </p:nvSpPr>
        <p:spPr>
          <a:xfrm>
            <a:off x="1508760" y="5166360"/>
            <a:ext cx="9921240" cy="1051560"/>
          </a:xfrm>
          <a:prstGeom prst="rect">
            <a:avLst/>
          </a:prstGeom>
          <a:noFill/>
          <a:ln/>
        </p:spPr>
        <p:txBody>
          <a:bodyPr wrap="square" lIns="0" tIns="0" rIns="0" bIns="0" rtlCol="0" anchor="ctr"/>
          <a:lstStyle/>
          <a:p>
            <a:pPr indent="0" marL="0">
              <a:buNone/>
            </a:pPr>
            <a:r>
              <a:rPr lang="en-US" sz="1400" b="1" dirty="0">
                <a:solidFill>
                  <a:schemeClr val="accent1"/>
                </a:solidFill>
              </a:rPr>
              <a:t>Design implication:  </a:t>
            </a:r>
            <a:pPr indent="0" marL="0">
              <a:buNone/>
            </a:pPr>
            <a:r>
              <a:rPr lang="en-US" sz="1400" dirty="0">
                <a:solidFill>
                  <a:schemeClr val="bg1"/>
                </a:solidFill>
              </a:rPr>
              <a:t>parasitic damping per kg of inertance, c_par / b = 32ν / d² · (f_c / f_s), depends only on channel diameter. Race cars: widen the channel. Road cars: let the fluid damping replace part of the main damper.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bg1"/>
                </a:solidFill>
              </a:rPr>
              <a:t>Conclusions</a:t>
            </a:r>
            <a:endParaRPr lang="en-US" sz="3000" dirty="0"/>
          </a:p>
        </p:txBody>
      </p:sp>
      <p:sp>
        <p:nvSpPr>
          <p:cNvPr id="3" name="number 1"/>
          <p:cNvSpPr txBox="1"/>
          <p:nvPr/>
        </p:nvSpPr>
        <p:spPr>
          <a:xfrm>
            <a:off x="548640" y="146304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 2"/>
          <p:cNvSpPr txBox="1"/>
          <p:nvPr/>
        </p:nvSpPr>
        <p:spPr>
          <a:xfrm>
            <a:off x="1325880" y="1371600"/>
            <a:ext cx="10314432" cy="777240"/>
          </a:xfrm>
          <a:prstGeom prst="rect">
            <a:avLst/>
          </a:prstGeom>
          <a:noFill/>
          <a:ln/>
        </p:spPr>
        <p:txBody>
          <a:bodyPr wrap="square" lIns="0" tIns="0" rIns="0" bIns="0" rtlCol="0" anchor="ctr"/>
          <a:lstStyle/>
          <a:p>
            <a:pPr indent="0" marL="0">
              <a:buNone/>
            </a:pPr>
            <a:r>
              <a:rPr lang="en-US" sz="1600" b="1" dirty="0">
                <a:solidFill>
                  <a:schemeClr val="bg1"/>
                </a:solidFill>
              </a:rPr>
              <a:t>CFD is validated</a:t>
            </a:r>
            <a:endParaRPr lang="en-US" sz="1600" dirty="0"/>
          </a:p>
          <a:p>
            <a:pPr indent="0" marL="0">
              <a:buNone/>
            </a:pPr>
            <a:r>
              <a:rPr lang="en-US" sz="1600" dirty="0">
                <a:solidFill>
                  <a:schemeClr val="bg2"/>
                </a:solidFill>
              </a:rPr>
              <a:t>within 0.3–3.6 % of established correlations; mesh uncertainty 0.1–0.3 %</a:t>
            </a:r>
            <a:endParaRPr lang="en-US" sz="1600" dirty="0"/>
          </a:p>
        </p:txBody>
      </p:sp>
      <p:sp>
        <p:nvSpPr>
          <p:cNvPr id="5" name="number 2"/>
          <p:cNvSpPr txBox="1"/>
          <p:nvPr/>
        </p:nvSpPr>
        <p:spPr>
          <a:xfrm>
            <a:off x="548640" y="242316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 name="Text 4"/>
          <p:cNvSpPr txBox="1"/>
          <p:nvPr/>
        </p:nvSpPr>
        <p:spPr>
          <a:xfrm>
            <a:off x="1325880" y="2331720"/>
            <a:ext cx="10314432" cy="777240"/>
          </a:xfrm>
          <a:prstGeom prst="rect">
            <a:avLst/>
          </a:prstGeom>
          <a:noFill/>
          <a:ln/>
        </p:spPr>
        <p:txBody>
          <a:bodyPr wrap="square" lIns="0" tIns="0" rIns="0" bIns="0" rtlCol="0" anchor="ctr"/>
          <a:lstStyle/>
          <a:p>
            <a:pPr indent="0" marL="0">
              <a:buNone/>
            </a:pPr>
            <a:r>
              <a:rPr lang="en-US" sz="1600" b="1" dirty="0">
                <a:solidFill>
                  <a:schemeClr val="bg1"/>
                </a:solidFill>
              </a:rPr>
              <a:t>A real fluid inerter is not ideal</a:t>
            </a:r>
            <a:endParaRPr lang="en-US" sz="1600" dirty="0"/>
          </a:p>
          <a:p>
            <a:pPr indent="0" marL="0">
              <a:buNone/>
            </a:pPr>
            <a:r>
              <a:rPr lang="en-US" sz="1600" dirty="0">
                <a:solidFill>
                  <a:schemeClr val="bg2"/>
                </a:solidFill>
              </a:rPr>
              <a:t>inertance 1.02–1.26 × ideal, plus 1.1–3.2 × the parasitic damping of a straight pipe</a:t>
            </a:r>
            <a:endParaRPr lang="en-US" sz="1600" dirty="0"/>
          </a:p>
        </p:txBody>
      </p:sp>
      <p:sp>
        <p:nvSpPr>
          <p:cNvPr id="7" name="number 3"/>
          <p:cNvSpPr txBox="1"/>
          <p:nvPr/>
        </p:nvSpPr>
        <p:spPr>
          <a:xfrm>
            <a:off x="548640" y="338328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8" name="Text 6"/>
          <p:cNvSpPr txBox="1"/>
          <p:nvPr/>
        </p:nvSpPr>
        <p:spPr>
          <a:xfrm>
            <a:off x="1325880" y="3291840"/>
            <a:ext cx="10314432" cy="777240"/>
          </a:xfrm>
          <a:prstGeom prst="rect">
            <a:avLst/>
          </a:prstGeom>
          <a:noFill/>
          <a:ln/>
        </p:spPr>
        <p:txBody>
          <a:bodyPr wrap="square" lIns="0" tIns="0" rIns="0" bIns="0" rtlCol="0" anchor="ctr"/>
          <a:lstStyle/>
          <a:p>
            <a:pPr indent="0" marL="0">
              <a:buNone/>
            </a:pPr>
            <a:r>
              <a:rPr lang="en-US" sz="1600" b="1" dirty="0">
                <a:solidFill>
                  <a:schemeClr val="bg1"/>
                </a:solidFill>
              </a:rPr>
              <a:t>On a single wheel</a:t>
            </a:r>
            <a:endParaRPr lang="en-US" sz="1600" dirty="0"/>
          </a:p>
          <a:p>
            <a:pPr indent="0" marL="0">
              <a:buNone/>
            </a:pPr>
            <a:r>
              <a:rPr lang="en-US" sz="1600" dirty="0">
                <a:solidFill>
                  <a:schemeClr val="bg2"/>
                </a:solidFill>
              </a:rPr>
              <a:t>real-fluid effects cost about 40 % of the ideal grip benefit (8.7 % → 5.0 %)</a:t>
            </a:r>
            <a:endParaRPr lang="en-US" sz="1600" dirty="0"/>
          </a:p>
        </p:txBody>
      </p:sp>
      <p:sp>
        <p:nvSpPr>
          <p:cNvPr id="9" name="number 4"/>
          <p:cNvSpPr txBox="1"/>
          <p:nvPr/>
        </p:nvSpPr>
        <p:spPr>
          <a:xfrm>
            <a:off x="548640" y="434340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0" name="Text 8"/>
          <p:cNvSpPr txBox="1"/>
          <p:nvPr/>
        </p:nvSpPr>
        <p:spPr>
          <a:xfrm>
            <a:off x="1325880" y="4251960"/>
            <a:ext cx="10314432" cy="777240"/>
          </a:xfrm>
          <a:prstGeom prst="rect">
            <a:avLst/>
          </a:prstGeom>
          <a:noFill/>
          <a:ln/>
        </p:spPr>
        <p:txBody>
          <a:bodyPr wrap="square" lIns="0" tIns="0" rIns="0" bIns="0" rtlCol="0" anchor="ctr"/>
          <a:lstStyle/>
          <a:p>
            <a:pPr indent="0" marL="0">
              <a:buNone/>
            </a:pPr>
            <a:r>
              <a:rPr lang="en-US" sz="1600" b="1" dirty="0">
                <a:solidFill>
                  <a:schemeClr val="bg1"/>
                </a:solidFill>
              </a:rPr>
              <a:t>Ports and cavitation</a:t>
            </a:r>
            <a:endParaRPr lang="en-US" sz="1600" dirty="0"/>
          </a:p>
          <a:p>
            <a:pPr indent="0" marL="0">
              <a:buNone/>
            </a:pPr>
            <a:r>
              <a:rPr lang="en-US" sz="1600" dirty="0">
                <a:solidFill>
                  <a:schemeClr val="bg2"/>
                </a:solidFill>
              </a:rPr>
              <a:t>drilled ports lose ≈ 6.4 velocity heads; at least ≈ 1.75 MPa pre-charge avoids cavitation</a:t>
            </a:r>
            <a:endParaRPr lang="en-US" sz="1600" dirty="0"/>
          </a:p>
        </p:txBody>
      </p:sp>
      <p:sp>
        <p:nvSpPr>
          <p:cNvPr id="11" name="number 5"/>
          <p:cNvSpPr txBox="1"/>
          <p:nvPr/>
        </p:nvSpPr>
        <p:spPr>
          <a:xfrm>
            <a:off x="548640" y="530352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2" name="Text 10"/>
          <p:cNvSpPr txBox="1"/>
          <p:nvPr/>
        </p:nvSpPr>
        <p:spPr>
          <a:xfrm>
            <a:off x="1325880" y="5212080"/>
            <a:ext cx="10314432" cy="777240"/>
          </a:xfrm>
          <a:prstGeom prst="rect">
            <a:avLst/>
          </a:prstGeom>
          <a:noFill/>
          <a:ln/>
        </p:spPr>
        <p:txBody>
          <a:bodyPr wrap="square" lIns="0" tIns="0" rIns="0" bIns="0" rtlCol="0" anchor="ctr"/>
          <a:lstStyle/>
          <a:p>
            <a:pPr indent="0" marL="0">
              <a:buNone/>
            </a:pPr>
            <a:r>
              <a:rPr lang="en-US" sz="1600" b="1" dirty="0">
                <a:solidFill>
                  <a:schemeClr val="bg1"/>
                </a:solidFill>
              </a:rPr>
              <a:t>On real cars and tracks</a:t>
            </a:r>
            <a:endParaRPr lang="en-US" sz="1600" dirty="0"/>
          </a:p>
          <a:p>
            <a:pPr indent="0" marL="0">
              <a:buNone/>
            </a:pPr>
            <a:r>
              <a:rPr lang="en-US" sz="1600" dirty="0">
                <a:solidFill>
                  <a:schemeClr val="bg2"/>
                </a:solidFill>
              </a:rPr>
              <a:t>a trade-off between bump grip and body control: +4–7 % for soft cars, 0–2 % for the stiff race car</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2F4F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Limitations and next steps</a:t>
            </a:r>
            <a:endParaRPr lang="en-US" sz="3000" dirty="0"/>
          </a:p>
        </p:txBody>
      </p:sp>
      <p:sp>
        <p:nvSpPr>
          <p:cNvPr id="3" name="Limitations"/>
          <p:cNvSpPr/>
          <p:nvPr/>
        </p:nvSpPr>
        <p:spPr>
          <a:xfrm>
            <a:off x="548640" y="1371600"/>
            <a:ext cx="5408676" cy="4846320"/>
          </a:xfrm>
          <a:prstGeom prst="roundRect">
            <a:avLst>
              <a:gd name="adj" fmla="val 1509"/>
            </a:avLst>
          </a:prstGeom>
          <a:solidFill>
            <a:schemeClr val="bg2"/>
          </a:solidFill>
          <a:ln/>
        </p:spPr>
      </p:sp>
      <p:sp>
        <p:nvSpPr>
          <p:cNvPr id="4" name="badge FaExclamationTriangle"/>
          <p:cNvSpPr/>
          <p:nvPr/>
        </p:nvSpPr>
        <p:spPr>
          <a:xfrm>
            <a:off x="868680" y="1645920"/>
            <a:ext cx="640080" cy="640080"/>
          </a:xfrm>
          <a:prstGeom prst="ellipse">
            <a:avLst/>
          </a:prstGeom>
          <a:solidFill>
            <a:schemeClr val="accent3"/>
          </a:solidFill>
          <a:ln/>
        </p:spPr>
      </p:sp>
      <p:pic>
        <p:nvPicPr>
          <p:cNvPr id="5" name="Image 0" descr="ExclamationTriangle">    </p:cNvPr>
          <p:cNvPicPr>
            <a:picLocks noChangeAspect="1"/>
          </p:cNvPicPr>
          <p:nvPr/>
        </p:nvPicPr>
        <p:blipFill>
          <a:blip r:embed="rId1"/>
          <a:stretch>
            <a:fillRect/>
          </a:stretch>
        </p:blipFill>
        <p:spPr>
          <a:xfrm>
            <a:off x="1035101" y="1812341"/>
            <a:ext cx="307238" cy="307238"/>
          </a:xfrm>
          <a:prstGeom prst="rect">
            <a:avLst/>
          </a:prstGeom>
        </p:spPr>
      </p:pic>
      <p:sp>
        <p:nvSpPr>
          <p:cNvPr id="6" name="Text 3"/>
          <p:cNvSpPr txBox="1"/>
          <p:nvPr/>
        </p:nvSpPr>
        <p:spPr>
          <a:xfrm>
            <a:off x="1691640" y="1645920"/>
            <a:ext cx="3945636" cy="640080"/>
          </a:xfrm>
          <a:prstGeom prst="rect">
            <a:avLst/>
          </a:prstGeom>
          <a:noFill/>
          <a:ln/>
        </p:spPr>
        <p:txBody>
          <a:bodyPr wrap="square" lIns="0" tIns="0" rIns="0" bIns="0" rtlCol="0" anchor="ctr"/>
          <a:lstStyle/>
          <a:p>
            <a:pPr indent="0" marL="0">
              <a:buNone/>
            </a:pPr>
            <a:r>
              <a:rPr lang="en-US" sz="2200" b="1" dirty="0">
                <a:solidFill>
                  <a:schemeClr val="tx1"/>
                </a:solidFill>
              </a:rPr>
              <a:t>Limitations</a:t>
            </a:r>
            <a:endParaRPr lang="en-US" sz="2200" dirty="0"/>
          </a:p>
        </p:txBody>
      </p:sp>
      <p:sp>
        <p:nvSpPr>
          <p:cNvPr id="7" name="Text 4"/>
          <p:cNvSpPr txBox="1"/>
          <p:nvPr/>
        </p:nvSpPr>
        <p:spPr>
          <a:xfrm>
            <a:off x="868680" y="2560320"/>
            <a:ext cx="4768596" cy="34747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Laminar, isothermal oil (viscosity changes with temperature)</a:t>
            </a:r>
            <a:endParaRPr lang="en-US" sz="1800" dirty="0"/>
          </a:p>
          <a:p>
            <a:pPr marL="342900" indent="-342900">
              <a:spcAft>
                <a:spcPts val="1600"/>
              </a:spcAft>
              <a:buSzPct val="100000"/>
              <a:buChar char="•"/>
            </a:pPr>
            <a:r>
              <a:rPr lang="en-US" sz="1800" dirty="0">
                <a:solidFill>
                  <a:schemeClr val="tx1"/>
                </a:solidFill>
              </a:rPr>
              <a:t>Chamber and cavitation CFD are axisymmetric; the 3D port CFD is steady</a:t>
            </a:r>
            <a:endParaRPr lang="en-US" sz="1800" dirty="0"/>
          </a:p>
          <a:p>
            <a:pPr marL="342900" indent="-342900">
              <a:spcAft>
                <a:spcPts val="1600"/>
              </a:spcAft>
              <a:buSzPct val="100000"/>
              <a:buChar char="•"/>
            </a:pPr>
            <a:r>
              <a:rPr lang="en-US" sz="1800" dirty="0">
                <a:solidFill>
                  <a:schemeClr val="tx1"/>
                </a:solidFill>
              </a:rPr>
              <a:t>Track simulator: tyres carry vertical load only; CoG, anti-roll bars and aero are estimates</a:t>
            </a:r>
            <a:endParaRPr lang="en-US" sz="1800" dirty="0"/>
          </a:p>
          <a:p>
            <a:pPr marL="342900" indent="-342900">
              <a:spcAft>
                <a:spcPts val="1600"/>
              </a:spcAft>
              <a:buSzPct val="100000"/>
              <a:buChar char="•"/>
            </a:pPr>
            <a:r>
              <a:rPr lang="en-US" sz="1800" dirty="0">
                <a:solidFill>
                  <a:schemeClr val="tx1"/>
                </a:solidFill>
              </a:rPr>
              <a:t>Spring rates from owner forums; F-150 rear axle modelled as independent</a:t>
            </a:r>
            <a:endParaRPr lang="en-US" sz="1800" dirty="0"/>
          </a:p>
        </p:txBody>
      </p:sp>
      <p:sp>
        <p:nvSpPr>
          <p:cNvPr id="8" name="Next steps"/>
          <p:cNvSpPr/>
          <p:nvPr/>
        </p:nvSpPr>
        <p:spPr>
          <a:xfrm>
            <a:off x="6231636" y="1371600"/>
            <a:ext cx="5408676" cy="4846320"/>
          </a:xfrm>
          <a:prstGeom prst="roundRect">
            <a:avLst>
              <a:gd name="adj" fmla="val 1509"/>
            </a:avLst>
          </a:prstGeom>
          <a:solidFill>
            <a:schemeClr val="bg2"/>
          </a:solidFill>
          <a:ln/>
        </p:spPr>
      </p:sp>
      <p:sp>
        <p:nvSpPr>
          <p:cNvPr id="9" name="badge FaTools"/>
          <p:cNvSpPr/>
          <p:nvPr/>
        </p:nvSpPr>
        <p:spPr>
          <a:xfrm>
            <a:off x="6551676" y="1645920"/>
            <a:ext cx="640080" cy="640080"/>
          </a:xfrm>
          <a:prstGeom prst="ellipse">
            <a:avLst/>
          </a:prstGeom>
          <a:solidFill>
            <a:schemeClr val="accent1"/>
          </a:solidFill>
          <a:ln/>
        </p:spPr>
      </p:sp>
      <p:pic>
        <p:nvPicPr>
          <p:cNvPr id="10" name="Image 1" descr="Tools">    </p:cNvPr>
          <p:cNvPicPr>
            <a:picLocks noChangeAspect="1"/>
          </p:cNvPicPr>
          <p:nvPr/>
        </p:nvPicPr>
        <p:blipFill>
          <a:blip r:embed="rId2"/>
          <a:stretch>
            <a:fillRect/>
          </a:stretch>
        </p:blipFill>
        <p:spPr>
          <a:xfrm>
            <a:off x="6718097" y="1812341"/>
            <a:ext cx="307238" cy="307238"/>
          </a:xfrm>
          <a:prstGeom prst="rect">
            <a:avLst/>
          </a:prstGeom>
        </p:spPr>
      </p:pic>
      <p:sp>
        <p:nvSpPr>
          <p:cNvPr id="11" name="Text 7"/>
          <p:cNvSpPr txBox="1"/>
          <p:nvPr/>
        </p:nvSpPr>
        <p:spPr>
          <a:xfrm>
            <a:off x="7374636" y="1645920"/>
            <a:ext cx="3945636" cy="640080"/>
          </a:xfrm>
          <a:prstGeom prst="rect">
            <a:avLst/>
          </a:prstGeom>
          <a:noFill/>
          <a:ln/>
        </p:spPr>
        <p:txBody>
          <a:bodyPr wrap="square" lIns="0" tIns="0" rIns="0" bIns="0" rtlCol="0" anchor="ctr"/>
          <a:lstStyle/>
          <a:p>
            <a:pPr indent="0" marL="0">
              <a:buNone/>
            </a:pPr>
            <a:r>
              <a:rPr lang="en-US" sz="2200" b="1" dirty="0">
                <a:solidFill>
                  <a:schemeClr val="tx1"/>
                </a:solidFill>
              </a:rPr>
              <a:t>Next steps</a:t>
            </a:r>
            <a:endParaRPr lang="en-US" sz="2200" dirty="0"/>
          </a:p>
        </p:txBody>
      </p:sp>
      <p:sp>
        <p:nvSpPr>
          <p:cNvPr id="12" name="Text 8"/>
          <p:cNvSpPr txBox="1"/>
          <p:nvPr/>
        </p:nvSpPr>
        <p:spPr>
          <a:xfrm>
            <a:off x="6551676" y="2560320"/>
            <a:ext cx="4768596" cy="34747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Compare with published fluid-inerter experiments (Swift et al. 2013; Liu et al. 2018)</a:t>
            </a:r>
            <a:endParaRPr lang="en-US" sz="1800" dirty="0"/>
          </a:p>
          <a:p>
            <a:pPr marL="342900" indent="-342900">
              <a:spcAft>
                <a:spcPts val="1600"/>
              </a:spcAft>
              <a:buSzPct val="100000"/>
              <a:buChar char="•"/>
            </a:pPr>
            <a:r>
              <a:rPr lang="en-US" sz="1800" dirty="0">
                <a:solidFill>
                  <a:schemeClr val="tx1"/>
                </a:solidFill>
              </a:rPr>
              <a:t>CFD of radiused port passages</a:t>
            </a:r>
            <a:endParaRPr lang="en-US" sz="1800" dirty="0"/>
          </a:p>
          <a:p>
            <a:pPr marL="342900" indent="-342900">
              <a:spcAft>
                <a:spcPts val="1600"/>
              </a:spcAft>
              <a:buSzPct val="100000"/>
              <a:buChar char="•"/>
            </a:pPr>
            <a:r>
              <a:rPr lang="en-US" sz="1800" dirty="0">
                <a:solidFill>
                  <a:schemeClr val="tx1"/>
                </a:solidFill>
              </a:rPr>
              <a:t>Finer study of the high-Dean regime (De &gt; 1000)</a:t>
            </a:r>
            <a:endParaRPr lang="en-US" sz="1800" dirty="0"/>
          </a:p>
          <a:p>
            <a:pPr marL="342900" indent="-342900">
              <a:spcAft>
                <a:spcPts val="1600"/>
              </a:spcAft>
              <a:buSzPct val="100000"/>
              <a:buChar char="•"/>
            </a:pPr>
            <a:r>
              <a:rPr lang="en-US" sz="1800" dirty="0">
                <a:solidFill>
                  <a:schemeClr val="tx1"/>
                </a:solidFill>
              </a:rPr>
              <a:t>Tyre force model, lap-time study and a build-and-test rig</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rPr>
              <a:t>References</a:t>
            </a:r>
            <a:endParaRPr lang="en-US" sz="3000" dirty="0"/>
          </a:p>
        </p:txBody>
      </p:sp>
      <p:sp>
        <p:nvSpPr>
          <p:cNvPr id="3" name="Text 1"/>
          <p:cNvSpPr txBox="1"/>
          <p:nvPr/>
        </p:nvSpPr>
        <p:spPr>
          <a:xfrm>
            <a:off x="548640" y="1371600"/>
            <a:ext cx="5408676" cy="4846320"/>
          </a:xfrm>
          <a:prstGeom prst="rect">
            <a:avLst/>
          </a:prstGeom>
          <a:noFill/>
          <a:ln/>
        </p:spPr>
        <p:txBody>
          <a:bodyPr wrap="square" lIns="0" tIns="0" rIns="0" bIns="0" rtlCol="0" anchor="t"/>
          <a:lstStyle/>
          <a:p>
            <a:pPr indent="0" marL="0">
              <a:spcAft>
                <a:spcPts val="1000"/>
              </a:spcAft>
              <a:buNone/>
            </a:pPr>
            <a:r>
              <a:rPr lang="en-US" sz="1400" dirty="0">
                <a:solidFill>
                  <a:schemeClr val="tx2"/>
                </a:solidFill>
              </a:rPr>
              <a:t>Smith, M.C. (2002). Synthesis of mechanical networks: the inerter. IEEE Trans. Automatic Control, 47(10), 1648–1662.</a:t>
            </a:r>
            <a:endParaRPr lang="en-US" sz="1400" dirty="0"/>
          </a:p>
          <a:p>
            <a:pPr indent="0" marL="0">
              <a:spcAft>
                <a:spcPts val="1000"/>
              </a:spcAft>
              <a:buNone/>
            </a:pPr>
            <a:r>
              <a:rPr lang="en-US" sz="1400" dirty="0">
                <a:solidFill>
                  <a:schemeClr val="tx2"/>
                </a:solidFill>
              </a:rPr>
              <a:t>Smith, M.C. &amp; Wang, F.-C. (2004). Performance benefits in passive vehicle suspensions employing inerters. Vehicle System Dynamics, 42(4), 235–257.</a:t>
            </a:r>
            <a:endParaRPr lang="en-US" sz="1400" dirty="0"/>
          </a:p>
          <a:p>
            <a:pPr indent="0" marL="0">
              <a:spcAft>
                <a:spcPts val="1000"/>
              </a:spcAft>
              <a:buNone/>
            </a:pPr>
            <a:r>
              <a:rPr lang="en-US" sz="1400" dirty="0">
                <a:solidFill>
                  <a:schemeClr val="tx2"/>
                </a:solidFill>
              </a:rPr>
              <a:t>Swift, S.J. et al. (2013). Design and modelling of a fluid inerter. Int. J. Control, 86(11), 2035–2051.</a:t>
            </a:r>
            <a:endParaRPr lang="en-US" sz="1400" dirty="0"/>
          </a:p>
          <a:p>
            <a:pPr indent="0" marL="0">
              <a:spcAft>
                <a:spcPts val="1000"/>
              </a:spcAft>
              <a:buNone/>
            </a:pPr>
            <a:r>
              <a:rPr lang="en-US" sz="1400" dirty="0">
                <a:solidFill>
                  <a:schemeClr val="tx2"/>
                </a:solidFill>
              </a:rPr>
              <a:t>Liu, X., Jiang, J.Z., Titurus, B. &amp; Harrison, A. (2018). Model identification methodology for fluid-based inerters. Mech. Systems and Signal Processing, 106, 479–494.</a:t>
            </a:r>
            <a:endParaRPr lang="en-US" sz="1400" dirty="0"/>
          </a:p>
          <a:p>
            <a:pPr indent="0" marL="0">
              <a:spcAft>
                <a:spcPts val="1000"/>
              </a:spcAft>
              <a:buNone/>
            </a:pPr>
            <a:r>
              <a:rPr lang="en-US" sz="1400" dirty="0">
                <a:solidFill>
                  <a:schemeClr val="tx2"/>
                </a:solidFill>
              </a:rPr>
              <a:t>Dean, W.R. (1927/1928). The stream-line motion of fluid in a curved pipe. Phil. Mag.</a:t>
            </a:r>
            <a:endParaRPr lang="en-US" sz="1400" dirty="0"/>
          </a:p>
          <a:p>
            <a:pPr indent="0" marL="0">
              <a:spcAft>
                <a:spcPts val="1000"/>
              </a:spcAft>
              <a:buNone/>
            </a:pPr>
            <a:r>
              <a:rPr lang="en-US" sz="1400" dirty="0">
                <a:solidFill>
                  <a:schemeClr val="tx2"/>
                </a:solidFill>
              </a:rPr>
              <a:t>White, C.M. (1929). Streamline flow through curved pipes. Proc. R. Soc. Lond. A, 123, 645–663.</a:t>
            </a:r>
            <a:endParaRPr lang="en-US" sz="1400" dirty="0"/>
          </a:p>
        </p:txBody>
      </p:sp>
      <p:sp>
        <p:nvSpPr>
          <p:cNvPr id="4" name="Text 2"/>
          <p:cNvSpPr txBox="1"/>
          <p:nvPr/>
        </p:nvSpPr>
        <p:spPr>
          <a:xfrm>
            <a:off x="6231636" y="1371600"/>
            <a:ext cx="5408676" cy="4846320"/>
          </a:xfrm>
          <a:prstGeom prst="rect">
            <a:avLst/>
          </a:prstGeom>
          <a:noFill/>
          <a:ln/>
        </p:spPr>
        <p:txBody>
          <a:bodyPr wrap="square" lIns="0" tIns="0" rIns="0" bIns="0" rtlCol="0" anchor="t"/>
          <a:lstStyle/>
          <a:p>
            <a:pPr indent="0" marL="0">
              <a:spcAft>
                <a:spcPts val="1000"/>
              </a:spcAft>
              <a:buNone/>
            </a:pPr>
            <a:r>
              <a:rPr lang="en-US" sz="1400" dirty="0">
                <a:solidFill>
                  <a:schemeClr val="tx2"/>
                </a:solidFill>
              </a:rPr>
              <a:t>Ito, H. (1959). Friction factors for turbulent flow in curved pipes. J. Basic Engineering, 81, 123–134.</a:t>
            </a:r>
            <a:endParaRPr lang="en-US" sz="1400" dirty="0"/>
          </a:p>
          <a:p>
            <a:pPr indent="0" marL="0">
              <a:spcAft>
                <a:spcPts val="1000"/>
              </a:spcAft>
              <a:buNone/>
            </a:pPr>
            <a:r>
              <a:rPr lang="en-US" sz="1400" dirty="0">
                <a:solidFill>
                  <a:schemeClr val="tx2"/>
                </a:solidFill>
              </a:rPr>
              <a:t>Womersley, J.R. (1955). Method for the calculation of velocity, rate of flow and viscous drag in arteries when the pressure gradient is known. J. Physiology, 127, 553–563.</a:t>
            </a:r>
            <a:endParaRPr lang="en-US" sz="1400" dirty="0"/>
          </a:p>
          <a:p>
            <a:pPr indent="0" marL="0">
              <a:spcAft>
                <a:spcPts val="1000"/>
              </a:spcAft>
              <a:buNone/>
            </a:pPr>
            <a:r>
              <a:rPr lang="en-US" sz="1400" dirty="0">
                <a:solidFill>
                  <a:schemeClr val="tx2"/>
                </a:solidFill>
              </a:rPr>
              <a:t>Celik, I.B. et al. (2008). Procedure for estimation and reporting of uncertainty due to discretization in CFD applications. J. Fluids Eng., 130(7), 078001.</a:t>
            </a:r>
            <a:endParaRPr lang="en-US" sz="1400" dirty="0"/>
          </a:p>
          <a:p>
            <a:pPr indent="0" marL="0">
              <a:spcAft>
                <a:spcPts val="1000"/>
              </a:spcAft>
              <a:buNone/>
            </a:pPr>
            <a:r>
              <a:rPr lang="en-US" sz="1400" dirty="0">
                <a:solidFill>
                  <a:schemeClr val="tx2"/>
                </a:solidFill>
              </a:rPr>
              <a:t>Schnerr, G.H. &amp; Sauer, J. (2001). Physical and numerical modeling of unsteady cavitation dynamics. ICMF 2001.</a:t>
            </a:r>
            <a:endParaRPr lang="en-US" sz="1400" dirty="0"/>
          </a:p>
          <a:p>
            <a:pPr indent="0" marL="0">
              <a:spcAft>
                <a:spcPts val="1000"/>
              </a:spcAft>
              <a:buNone/>
            </a:pPr>
            <a:r>
              <a:rPr lang="en-US" sz="1400" dirty="0">
                <a:solidFill>
                  <a:schemeClr val="tx2"/>
                </a:solidFill>
              </a:rPr>
              <a:t>ISO 8608:2016. Mechanical vibration — Road surface profiles — Reporting of measured data.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image panel"/>
          <p:cNvSpPr/>
          <p:nvPr/>
        </p:nvSpPr>
        <p:spPr>
          <a:xfrm>
            <a:off x="7680960" y="0"/>
            <a:ext cx="4510735" cy="6858000"/>
          </a:xfrm>
          <a:prstGeom prst="rect">
            <a:avLst/>
          </a:prstGeom>
          <a:solidFill>
            <a:schemeClr val="bg1"/>
          </a:solidFill>
          <a:ln/>
        </p:spPr>
      </p:sp>
      <p:pic>
        <p:nvPicPr>
          <p:cNvPr id="3" name="Image 0" descr="Helical oil channel of the fluid inerter">    </p:cNvPr>
          <p:cNvPicPr>
            <a:picLocks noChangeAspect="1"/>
          </p:cNvPicPr>
          <p:nvPr/>
        </p:nvPicPr>
        <p:blipFill>
          <a:blip r:embed="rId1"/>
          <a:stretch>
            <a:fillRect/>
          </a:stretch>
        </p:blipFill>
        <p:spPr>
          <a:xfrm>
            <a:off x="7955280" y="1952028"/>
            <a:ext cx="3959352" cy="2953944"/>
          </a:xfrm>
          <a:prstGeom prst="rect">
            <a:avLst/>
          </a:prstGeom>
        </p:spPr>
      </p:pic>
      <p:sp>
        <p:nvSpPr>
          <p:cNvPr id="4" name="Text 1"/>
          <p:cNvSpPr txBox="1"/>
          <p:nvPr/>
        </p:nvSpPr>
        <p:spPr>
          <a:xfrm>
            <a:off x="548640" y="1463040"/>
            <a:ext cx="6675120" cy="1005840"/>
          </a:xfrm>
          <a:prstGeom prst="rect">
            <a:avLst/>
          </a:prstGeom>
          <a:noFill/>
          <a:ln/>
        </p:spPr>
        <p:txBody>
          <a:bodyPr wrap="square" lIns="0" tIns="0" rIns="0" bIns="0" rtlCol="0" anchor="ctr"/>
          <a:lstStyle/>
          <a:p>
            <a:pPr indent="0" marL="0">
              <a:buNone/>
            </a:pPr>
            <a:r>
              <a:rPr lang="en-US" sz="4800" b="1" dirty="0">
                <a:solidFill>
                  <a:schemeClr val="bg1"/>
                </a:solidFill>
              </a:rPr>
              <a:t>Thank you</a:t>
            </a:r>
            <a:endParaRPr lang="en-US" sz="4800" dirty="0"/>
          </a:p>
        </p:txBody>
      </p:sp>
      <p:sp>
        <p:nvSpPr>
          <p:cNvPr id="5" name="Text 2"/>
          <p:cNvSpPr txBox="1"/>
          <p:nvPr/>
        </p:nvSpPr>
        <p:spPr>
          <a:xfrm>
            <a:off x="548640" y="2468880"/>
            <a:ext cx="6675120" cy="548640"/>
          </a:xfrm>
          <a:prstGeom prst="rect">
            <a:avLst/>
          </a:prstGeom>
          <a:noFill/>
          <a:ln/>
        </p:spPr>
        <p:txBody>
          <a:bodyPr wrap="square" lIns="0" tIns="0" rIns="0" bIns="0" rtlCol="0" anchor="ctr"/>
          <a:lstStyle/>
          <a:p>
            <a:pPr indent="0" marL="0">
              <a:buNone/>
            </a:pPr>
            <a:r>
              <a:rPr lang="en-US" sz="2200" dirty="0">
                <a:solidFill>
                  <a:schemeClr val="accent1"/>
                </a:solidFill>
              </a:rPr>
              <a:t>Questions and discussion</a:t>
            </a:r>
            <a:endParaRPr lang="en-US" sz="2200" dirty="0"/>
          </a:p>
        </p:txBody>
      </p:sp>
      <p:sp>
        <p:nvSpPr>
          <p:cNvPr id="6" name="badge FaUserGraduate"/>
          <p:cNvSpPr/>
          <p:nvPr/>
        </p:nvSpPr>
        <p:spPr>
          <a:xfrm>
            <a:off x="548640" y="3474720"/>
            <a:ext cx="640080" cy="640080"/>
          </a:xfrm>
          <a:prstGeom prst="ellipse">
            <a:avLst/>
          </a:prstGeom>
          <a:solidFill>
            <a:schemeClr val="accent1"/>
          </a:solidFill>
          <a:ln/>
        </p:spPr>
      </p:sp>
      <p:pic>
        <p:nvPicPr>
          <p:cNvPr id="7" name="Image 1" descr="UserGraduate">    </p:cNvPr>
          <p:cNvPicPr>
            <a:picLocks noChangeAspect="1"/>
          </p:cNvPicPr>
          <p:nvPr/>
        </p:nvPicPr>
        <p:blipFill>
          <a:blip r:embed="rId2"/>
          <a:stretch>
            <a:fillRect/>
          </a:stretch>
        </p:blipFill>
        <p:spPr>
          <a:xfrm>
            <a:off x="715061" y="3641141"/>
            <a:ext cx="307238" cy="307238"/>
          </a:xfrm>
          <a:prstGeom prst="rect">
            <a:avLst/>
          </a:prstGeom>
        </p:spPr>
      </p:pic>
      <p:sp>
        <p:nvSpPr>
          <p:cNvPr id="8" name="Text 4"/>
          <p:cNvSpPr txBox="1"/>
          <p:nvPr/>
        </p:nvSpPr>
        <p:spPr>
          <a:xfrm>
            <a:off x="1371600" y="3383280"/>
            <a:ext cx="5852160" cy="822960"/>
          </a:xfrm>
          <a:prstGeom prst="rect">
            <a:avLst/>
          </a:prstGeom>
          <a:noFill/>
          <a:ln/>
        </p:spPr>
        <p:txBody>
          <a:bodyPr wrap="square" lIns="0" tIns="0" rIns="0" bIns="0" rtlCol="0" anchor="ctr"/>
          <a:lstStyle/>
          <a:p>
            <a:pPr indent="0" marL="0">
              <a:buNone/>
            </a:pPr>
            <a:r>
              <a:rPr lang="en-US" sz="1600" b="1" dirty="0">
                <a:solidFill>
                  <a:schemeClr val="bg1"/>
                </a:solidFill>
              </a:rPr>
              <a:t>Rishi Gerolaga Kumar</a:t>
            </a:r>
            <a:endParaRPr lang="en-US" sz="1600" dirty="0"/>
          </a:p>
          <a:p>
            <a:pPr indent="0" marL="0">
              <a:buNone/>
            </a:pPr>
            <a:r>
              <a:rPr lang="en-US" sz="1600" dirty="0">
                <a:solidFill>
                  <a:srgbClr val="9AA4AE"/>
                </a:solidFill>
              </a:rPr>
              <a:t>URK24RA3001</a:t>
            </a:r>
            <a:endParaRPr lang="en-US" sz="1600" dirty="0"/>
          </a:p>
        </p:txBody>
      </p:sp>
      <p:sp>
        <p:nvSpPr>
          <p:cNvPr id="9" name="badge FaUserGraduate"/>
          <p:cNvSpPr/>
          <p:nvPr/>
        </p:nvSpPr>
        <p:spPr>
          <a:xfrm>
            <a:off x="548640" y="4389120"/>
            <a:ext cx="640080" cy="640080"/>
          </a:xfrm>
          <a:prstGeom prst="ellipse">
            <a:avLst/>
          </a:prstGeom>
          <a:solidFill>
            <a:schemeClr val="accent1"/>
          </a:solidFill>
          <a:ln/>
        </p:spPr>
      </p:sp>
      <p:pic>
        <p:nvPicPr>
          <p:cNvPr id="10" name="Image 2" descr="UserGraduate">    </p:cNvPr>
          <p:cNvPicPr>
            <a:picLocks noChangeAspect="1"/>
          </p:cNvPicPr>
          <p:nvPr/>
        </p:nvPicPr>
        <p:blipFill>
          <a:blip r:embed="rId3"/>
          <a:stretch>
            <a:fillRect/>
          </a:stretch>
        </p:blipFill>
        <p:spPr>
          <a:xfrm>
            <a:off x="715061" y="4555541"/>
            <a:ext cx="307238" cy="307238"/>
          </a:xfrm>
          <a:prstGeom prst="rect">
            <a:avLst/>
          </a:prstGeom>
        </p:spPr>
      </p:pic>
      <p:sp>
        <p:nvSpPr>
          <p:cNvPr id="11" name="Text 6"/>
          <p:cNvSpPr txBox="1"/>
          <p:nvPr/>
        </p:nvSpPr>
        <p:spPr>
          <a:xfrm>
            <a:off x="1371600" y="4297680"/>
            <a:ext cx="5852160" cy="822960"/>
          </a:xfrm>
          <a:prstGeom prst="rect">
            <a:avLst/>
          </a:prstGeom>
          <a:noFill/>
          <a:ln/>
        </p:spPr>
        <p:txBody>
          <a:bodyPr wrap="square" lIns="0" tIns="0" rIns="0" bIns="0" rtlCol="0" anchor="ctr"/>
          <a:lstStyle/>
          <a:p>
            <a:pPr indent="0" marL="0">
              <a:buNone/>
            </a:pPr>
            <a:r>
              <a:rPr lang="en-US" sz="1600" b="1" dirty="0">
                <a:solidFill>
                  <a:schemeClr val="bg1"/>
                </a:solidFill>
              </a:rPr>
              <a:t>C Y Nicholas</a:t>
            </a:r>
            <a:endParaRPr lang="en-US" sz="1600" dirty="0"/>
          </a:p>
          <a:p>
            <a:pPr indent="0" marL="0">
              <a:buNone/>
            </a:pPr>
            <a:r>
              <a:rPr lang="en-US" sz="1600" dirty="0">
                <a:solidFill>
                  <a:srgbClr val="9AA4AE"/>
                </a:solidFill>
              </a:rPr>
              <a:t>URK24RA3012</a:t>
            </a:r>
            <a:endParaRPr lang="en-US" sz="1600" dirty="0"/>
          </a:p>
        </p:txBody>
      </p:sp>
      <p:sp>
        <p:nvSpPr>
          <p:cNvPr id="12" name="badge FaUniversity"/>
          <p:cNvSpPr/>
          <p:nvPr/>
        </p:nvSpPr>
        <p:spPr>
          <a:xfrm>
            <a:off x="548640" y="5394960"/>
            <a:ext cx="640080" cy="640080"/>
          </a:xfrm>
          <a:prstGeom prst="ellipse">
            <a:avLst/>
          </a:prstGeom>
          <a:solidFill>
            <a:schemeClr val="accent1"/>
          </a:solidFill>
          <a:ln/>
        </p:spPr>
      </p:sp>
      <p:pic>
        <p:nvPicPr>
          <p:cNvPr id="13" name="Image 3" descr="University">    </p:cNvPr>
          <p:cNvPicPr>
            <a:picLocks noChangeAspect="1"/>
          </p:cNvPicPr>
          <p:nvPr/>
        </p:nvPicPr>
        <p:blipFill>
          <a:blip r:embed="rId4"/>
          <a:stretch>
            <a:fillRect/>
          </a:stretch>
        </p:blipFill>
        <p:spPr>
          <a:xfrm>
            <a:off x="715061" y="5561381"/>
            <a:ext cx="307238" cy="307238"/>
          </a:xfrm>
          <a:prstGeom prst="rect">
            <a:avLst/>
          </a:prstGeom>
        </p:spPr>
      </p:pic>
      <p:sp>
        <p:nvSpPr>
          <p:cNvPr id="14" name="Text 8"/>
          <p:cNvSpPr txBox="1"/>
          <p:nvPr/>
        </p:nvSpPr>
        <p:spPr>
          <a:xfrm>
            <a:off x="1371600" y="5303520"/>
            <a:ext cx="5852160" cy="822960"/>
          </a:xfrm>
          <a:prstGeom prst="rect">
            <a:avLst/>
          </a:prstGeom>
          <a:noFill/>
          <a:ln/>
        </p:spPr>
        <p:txBody>
          <a:bodyPr wrap="square" lIns="0" tIns="0" rIns="0" bIns="0" rtlCol="0" anchor="ctr"/>
          <a:lstStyle/>
          <a:p>
            <a:pPr indent="0" marL="0">
              <a:buNone/>
            </a:pPr>
            <a:r>
              <a:rPr lang="en-US" sz="1600" b="1" dirty="0">
                <a:solidFill>
                  <a:schemeClr val="bg1"/>
                </a:solidFill>
              </a:rPr>
              <a:t>Karunya Institute of Technology and Sciences</a:t>
            </a:r>
            <a:endParaRPr lang="en-US" sz="1600" dirty="0"/>
          </a:p>
          <a:p>
            <a:pPr indent="0" marL="0">
              <a:buNone/>
            </a:pPr>
            <a:r>
              <a:rPr lang="en-US" sz="1600" dirty="0">
                <a:solidFill>
                  <a:srgbClr val="9AA4AE"/>
                </a:solidFill>
              </a:rPr>
              <a:t>Pneumatics and Dynamics (23ME2002)</a:t>
            </a:r>
            <a:endParaRPr lang="en-US" sz="1600" dirty="0"/>
          </a:p>
        </p:txBody>
      </p:sp>
      <p:sp>
        <p:nvSpPr>
          <p:cNvPr id="16" name="Text 0"/>
          <p:cNvSpPr/>
          <p:nvPr>
            <p:ph idx="100" type="title" hasCustomPrompt="1"/>
          </p:nvPr>
        </p:nvSpPr>
        <p:spPr>
          <a:xfrm>
            <a:off x="548640" y="1417320"/>
            <a:ext cx="6675120" cy="2286000"/>
          </a:xfrm>
          <a:prstGeom prst="rect">
            <a:avLst/>
          </a:prstGeom>
          <a:noFill/>
          <a:ln/>
        </p:spPr>
        <p:txBody>
          <a:bodyPr wrap="square" lIns="0" tIns="0" rIns="0" bIns="0" rtlCol="0" anchor="t"/>
          <a:lstStyle/>
          <a:p>
            <a:pPr algn="l" indent="0" marL="0">
              <a:buNone/>
            </a:pPr>
            <a:endParaRPr lang="en-US" sz="3400" dirty="0"/>
          </a:p>
        </p:txBody>
      </p:sp>
    </p:spTree>
  </p:cSld>
  <p:clrMapOvr>
    <a:masterClrMapping/>
  </p:clrMapOvr>
</p:sld>
</file>

<file path=ppt/theme/theme1.xml><?xml version="1.0" encoding="utf-8"?>
<a:theme xmlns:a="http://schemas.openxmlformats.org/drawingml/2006/main" name="Office Theme">
  <a:themeElements>
    <a:clrScheme name="Copper Graphite">
      <a:dk1>
        <a:srgbClr val="1B1F24"/>
      </a:dk1>
      <a:lt1>
        <a:srgbClr val="FFFFFF"/>
      </a:lt1>
      <a:dk2>
        <a:srgbClr val="2B3440"/>
      </a:dk2>
      <a:lt2>
        <a:srgbClr val="F2F4F6"/>
      </a:lt2>
      <a:accent1>
        <a:srgbClr val="C2581B"/>
      </a:accent1>
      <a:accent2>
        <a:srgbClr val="2F6690"/>
      </a:accent2>
      <a:accent3>
        <a:srgbClr val="6B7682"/>
      </a:accent3>
      <a:accent4>
        <a:srgbClr val="E3A23B"/>
      </a:accent4>
      <a:accent5>
        <a:srgbClr val="3A7D44"/>
      </a:accent5>
      <a:accent6>
        <a:srgbClr val="9B2C2C"/>
      </a:accent6>
      <a:hlink>
        <a:srgbClr val="2F6690"/>
      </a:hlink>
      <a:folHlink>
        <a:srgbClr val="6B768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Karunya Institute of Technology and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CFD Characterisation of a Helical-Channel Fluid Inerter (J-Damper)</dc:title>
  <dc:subject>Pneumatics and Dynamics (23ME2002)</dc:subject>
  <dc:creator>Rishi Gerolaga Kumar, C Y Nicholas</dc:creator>
  <cp:lastModifiedBy>Rishi Gerolaga Kumar, C Y Nicholas</cp:lastModifiedBy>
  <cp:revision>1</cp:revision>
  <dcterms:created xsi:type="dcterms:W3CDTF">2026-10-25T16:32:30Z</dcterms:created>
  <dcterms:modified xsi:type="dcterms:W3CDTF">2026-10-25T16:32:30Z</dcterms:modified>
</cp:coreProperties>
</file>